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Sun Yat-sen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Study of Radioactive Source Monitoring</a:t>
            </a:r>
            <a:br/>
            <a:r>
              <a:t>Based on ElasticNet Regression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6C9"/>
                </a:solidFill>
                <a:latin typeface="Calibri"/>
              </a:defRPr>
            </a:pPr>
            <a:r>
              <a:t>Bachelor's Thesis Defense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Wang Kaiqi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E6C9"/>
                </a:solidFill>
                <a:latin typeface="Calibri"/>
              </a:defRPr>
            </a:pPr>
            <a:r>
              <a:t>Sino-French Institute of Nuclear Engineering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E6C9"/>
                </a:solidFill>
                <a:latin typeface="Calibri"/>
              </a:defRPr>
            </a:pPr>
            <a:r>
              <a:t>Supervisors: Prof. Shi Wei (CityU HK) &amp; Prof. Wang Kai (SYSU)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1.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2.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3. Theoretical Basis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4. Algorithm &amp;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5. PHITS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6. Results &amp;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7. Conclusions &amp; 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8.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9. 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Background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30352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Nuclear Facility Decommissioning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Global decommissioning projects increasing (Fukushima Daiichi, etc.)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IAEA: Accurate source distribution is prerequisite for optimized decommissioning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75104"/>
            <a:ext cx="5303520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208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Three-Dimensional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951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Composite sources: localized hot-spots + continuous activation + dispersed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511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Nuclide diversity: ¹³⁴Cs, ¹³⁷Cs, ⁶⁰Co, ¹³¹I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72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Constraints: limited detectors, time, dose 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05840"/>
            <a:ext cx="530352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0000"/>
                </a:solidFill>
                <a:latin typeface="Calibri"/>
              </a:defRPr>
            </a:pPr>
            <a:r>
              <a:t>Core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Inverse problem is both underdetermined (m &lt;&lt; n) and ill-posed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5819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 single method must handle sparse hotspots, continuous regions, and multi-nuclide discrimination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85039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1430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3F"/>
                </a:solidFill>
                <a:latin typeface="Calibri"/>
              </a:defRPr>
            </a:pPr>
            <a:r>
              <a:t>Mathematical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50876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mbria Math"/>
              </a:defRPr>
            </a:pPr>
            <a:r>
              <a:t>d = A * s +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74519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d: measurements    A: contribution matrix    s: source vector    e: noise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468880"/>
            <a:ext cx="8503920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2514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788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Underdetermined: fewer detectors than unknowns (m &lt;&lt; 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044952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Ill-posed: noisy data leads to unstable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300984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Mixed: sparse hot spots + continuous activation regions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Existing Methods and Limitations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Sparse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Multi-n.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Core Limitation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ML-EM/MPMI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O(n3); noise sensitive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IRT-DEGL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V.Slow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Global optimization cost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Exc.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Over-compresses continuous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Fused 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Needs neighborhood graph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6B3F"/>
                          </a:solidFill>
                        </a:defRPr>
                      </a:pPr>
                      <a:r>
                        <a:t>ElasticNet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6B3F"/>
                          </a:solidFill>
                        </a:defRPr>
                      </a:pPr>
                      <a:r>
                        <a:t>Exc.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6B3F"/>
                          </a:solidFill>
                        </a:defRPr>
                      </a:pPr>
                      <a:r>
                        <a:t>Exc.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6B3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6B3F"/>
                          </a:solidFill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6B3F"/>
                          </a:solidFill>
                        </a:defRPr>
                      </a:pPr>
                      <a:r>
                        <a:t>Not yet applied to nuclear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ElasticNet?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303520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Advantages over LASSO and Fused LASSO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LASSO: over-compresses continuous regions to discrete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Fused LASSO: needs predefined neighborhood graph + ADMM convergence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379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ElasticNet: L1+L2 synergy without extra spatial constraints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31136"/>
            <a:ext cx="5303520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768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Cross-Domain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511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Nuclear medicine (SPECT): outperforms pure L1, L2, fixed-weight 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72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XLCT imaging: superior localization + dual-source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Fluorescence molecular tomography: 30%+ error reduction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05840"/>
            <a:ext cx="5303520" cy="6400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3F"/>
                </a:solidFill>
                <a:latin typeface="Calibri"/>
              </a:defRPr>
            </a:pPr>
            <a:r>
              <a:t>Research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ElasticNet has NOT been applied to nuclear radioactive source monitoring -- this thesis fills that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ElasticNet Regression Formulation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005840"/>
            <a:ext cx="9418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05156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3F"/>
                </a:solidFill>
                <a:latin typeface="Calibri"/>
              </a:defRPr>
            </a:pPr>
            <a:r>
              <a:t>Objective Function (Zou &amp; Hastie, 2005)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1732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mbria Math"/>
              </a:defRPr>
            </a:pPr>
            <a:r>
              <a:t>min  ||y - Xw||^2 + a [ p*||w||_1 + (1-p)/2 * ||w||^2_2 ]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5303520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L1 vs. L2 Penalty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L1: promotes sparsity -&gt; hot-spot localization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278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L2: groups correlated variables, suppresses oscillation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838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 -&gt; 1: LASSO;  p -&gt; 0: 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51760"/>
            <a:ext cx="530352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Key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718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Strictly convex when lambda_2 &gt; 0 -&gt; unique global minimum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278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Solved by Coordinate Descent; no ADMM convergence issues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Physical Interpretation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30352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L1: Sparse Hot-Spot Localization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Count-type penalty on how many grid cells contain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Drives irrelevant coefficients to exact zero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0352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L2: Continuous Region Smoothing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Suppresses individual amplitude, promotes similar neighboring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5819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Preserves continuous region morphology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926080"/>
            <a:ext cx="9418320" cy="6400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3F"/>
                </a:solidFill>
                <a:latin typeface="Calibri"/>
              </a:defRPr>
            </a:pPr>
            <a:r>
              <a:t>Synergy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00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Near hotspots: L1 dominates -&gt; precise localization.</a:t>
            </a:r>
            <a:br/>
            <a:r>
              <a:t>Inside continuous regions: L2 dominates -&gt; smooth morphology.</a:t>
            </a:r>
            <a:br/>
            <a:r>
              <a:t>Transition zones: both cooperate.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Algorithm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0972800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Stage 1: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Column normalization: scale each column of A to unit L2 norm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Non-negative SVD matrix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379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Condition number assessment for adaptive alpha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31136"/>
            <a:ext cx="10972800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768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Stage 2: ElasticNet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5117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ElasticNet(positive=True) -- hard non-negativity 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0720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GridSearchCV: alpha (50 values), rho (80 values), 5-fold 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Custom intercept penalty for |beta_0 / y_bar| &gt; 10%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56432"/>
            <a:ext cx="1097280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02151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Stage 3: Post-processing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Denormalize: w_est = w_norm / col_norms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3250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Non-negative truncation, intercept analysis, evaluation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Optimization: Column Normalization</a:t>
            </a:r>
          </a:p>
        </p:txBody>
      </p:sp>
      <p:pic>
        <p:nvPicPr>
          <p:cNvPr id="3" name="Picture 2" descr="fig_04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097280"/>
            <a:ext cx="7315200" cy="35288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8247" y="47175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Column normalization: cond=100, 5 runs all achieve MSE=1e-4 to 1e-9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Non-negative SVD + Non-negative ElasticNet</a:t>
            </a:r>
          </a:p>
        </p:txBody>
      </p:sp>
      <p:pic>
        <p:nvPicPr>
          <p:cNvPr id="3" name="Picture 2" descr="fig_06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097280"/>
            <a:ext cx="7315200" cy="35698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8247" y="4758537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Non-negative SVD + non-negative EN: Exp1/Exp3 reach MSE=1e-9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Condition Number Impact</a:t>
            </a:r>
          </a:p>
        </p:txBody>
      </p:sp>
      <p:pic>
        <p:nvPicPr>
          <p:cNvPr id="3" name="Picture 2" descr="fig_16_p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343" y="1097280"/>
            <a:ext cx="650100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8247" y="5760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Comparison of adaptive CV, segmented search, and fusion strategies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Intercept Fitting Analysis</a:t>
            </a:r>
          </a:p>
        </p:txBody>
      </p:sp>
      <p:pic>
        <p:nvPicPr>
          <p:cNvPr id="3" name="Picture 2" descr="fig_07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26351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382388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Good case: small intercept</a:t>
            </a:r>
          </a:p>
        </p:txBody>
      </p:sp>
      <p:pic>
        <p:nvPicPr>
          <p:cNvPr id="5" name="Picture 4" descr="fig_08_p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25716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376033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Bad case: large intercept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PHITS Simulation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029200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PHITS (JAEA): Monte Carlo Particle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10^8 particles x 100 batches; Cs-137, 0.662 MeV gamma-ray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116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Simulation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Spherical (R=10m, reactor-centered)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Radioactive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10 Cs-137 point sources, 1 Ci each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Detectors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8 spherical detectors (R=25mm)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Grid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4 x 3 = 12 cells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Contribution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8 x 12 (only 11/96 non-zero)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Matrix 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6/8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Source-Detector Geometry</a:t>
            </a:r>
          </a:p>
        </p:txBody>
      </p:sp>
      <p:pic>
        <p:nvPicPr>
          <p:cNvPr id="3" name="Picture 2" descr="fig_12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2351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2386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10 sources -&gt; 12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10 Cs-137 point sources (1 Ci)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4 x 3 = 12 grid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8 spherical detectors (R=25mm)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743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7 active cells, 5 empty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200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Matrix: 8 x 12, rank=6/8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PHITS 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B3F"/>
                </a:solidFill>
                <a:latin typeface="Calibri"/>
              </a:defRPr>
            </a:pPr>
            <a:r>
              <a:t>Best: alpha = 1e-6, l1_ratio = 0.99, R^2 = 0.463  |  7 non-zero cells detected, 5 with &lt;2% error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5544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Cell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True (GBq)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Estimate (GBq)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1.265e5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1.265e5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6B3F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Cell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5.266e4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3.93e2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</a:defRPr>
                      </a:pPr>
                      <a:r>
                        <a:t>99.3%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Cell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1.192e5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2.31e3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</a:defRPr>
                      </a:pPr>
                      <a:r>
                        <a:t>98.1%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Cell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5.894e4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5.894e4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6B3F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Cell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5.724e4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5.724e4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6B3F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Cell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4.870e4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4.870e4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6B3F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Cell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1.352e5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1.373e5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6B3F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Reconstruction Visualization</a:t>
            </a:r>
          </a:p>
        </p:txBody>
      </p:sp>
      <p:pic>
        <p:nvPicPr>
          <p:cNvPr id="3" name="Picture 2" descr="fig_14_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23162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35050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True vs. estimated distribution</a:t>
            </a:r>
          </a:p>
        </p:txBody>
      </p:sp>
      <p:pic>
        <p:nvPicPr>
          <p:cNvPr id="5" name="Picture 4" descr="fig_13_p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41179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530669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Contribution matrix heatmap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Error Source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097280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0000"/>
                </a:solidFill>
                <a:latin typeface="Calibri"/>
              </a:defRPr>
            </a:pPr>
            <a:r>
              <a:t>Cell 5 &amp; 6 Failure -- Physical, Not Algorithmic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Cell 6: only Detector 1 responds, weak signal (1e-9 level)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Cell 5: only Detector 5 responds, weak signal (1e-10 level)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975104"/>
            <a:ext cx="9418320" cy="6400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3F"/>
                </a:solidFill>
                <a:latin typeface="Calibri"/>
              </a:defRPr>
            </a:pPr>
            <a:r>
              <a:t>Matrix Rank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494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Rank of A = 6/8. Only 6 of 12 cells algebraically distinguishable.</a:t>
            </a:r>
            <a:br/>
            <a:r>
              <a:t>Physical indistinguishability from detector geometry, NOT algorithm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889504"/>
            <a:ext cx="9418320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9352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Implication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09544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Improved detector layout would resolve these errors. ElasticNet is NOT the bottleneck.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Bayesian Optimization Results</a:t>
            </a:r>
          </a:p>
        </p:txBody>
      </p:sp>
      <p:pic>
        <p:nvPicPr>
          <p:cNvPr id="3" name="Picture 2" descr="fig_17_p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27191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390787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Bayesian opt.: sparse source</a:t>
            </a:r>
          </a:p>
        </p:txBody>
      </p:sp>
      <p:pic>
        <p:nvPicPr>
          <p:cNvPr id="5" name="Picture 4" descr="fig_21_p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16581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284690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Bayesian + PHITS validation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Grid Search vs. Bayesian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02920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Difficulty Inflection Points at Cond ~ 150 and 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Not 'more ill-conditioned = harder' -- critical spectral structure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Optimal l1_ratio ~ 0.99 universally -- confirms strong sparsity prior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09728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Grid Search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Bayesian Opt.</a:t>
                      </a:r>
                    </a:p>
                  </a:txBody>
                  <a:tcPr>
                    <a:solidFill>
                      <a:srgbClr val="006B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Evaluations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150-450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5-10x faster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Accuracy (low cond)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Comparable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Accuracy (high cond)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Higher ceiling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Slightly worse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0972800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1. ElasticNet fills the application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Effectively handles sparse + continuous composite source reconstruction.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9072"/>
            <a:ext cx="10972800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2. Optimization strategies improve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Column normalization + adaptive alpha + non-negative constraint + intercept penalty.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32303"/>
            <a:ext cx="10972800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78023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3. PHITS validation confirms practical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523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All 7 non-zero cells detected; 5 cells with &lt;2% error.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45535"/>
            <a:ext cx="10972800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91255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4. Bayesian optimization: complementary to grid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65575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70-90% computation savings; grid search has higher accuracy ceiling.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0972800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Mobile Detection Platforms (UGV / UAV)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Autonomous patrol -&gt; richer contribution matrix -&gt; improved stability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9072"/>
            <a:ext cx="10972800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Algorithm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Adaptive ElasticNet for automatic variable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951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Bayesian ElasticNet with uncertainty quantification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5117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Deep learning + ElasticNet model cascade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44368"/>
            <a:ext cx="1097280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90087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B3F"/>
                </a:solidFill>
                <a:latin typeface="Calibri"/>
              </a:defRPr>
            </a:pPr>
            <a:r>
              <a:t>Extended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6440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Multi-energy source discrimination &amp; 3D volumetric reconstruction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3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Real-time online reconstruction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[1] Tibshirani R. Regression shrinkage and selection via the lasso. JRSS-B, 1996.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[2] Hoerl &amp; Kennard. Ridge regression. Technometrics, 1970.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[3] Sugaya et al. Inverse estimation for fuel debris search. ANE, 2019.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[4] Shi W et al. LASSO with spectral information. ANE, 2023.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[5] Shi W et al. LASSO: Theory and demonstration. PNE, 2023.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[6] Yamada et al. Fused LASSO for radioactive materials. WM2024, 2024.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[7] Zou &amp; Hastie. Regularization via the elastic net. JRSS-B, 2005.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[8] Kasai &amp; Otsuka. Dynamic elastic net for nuclear medicine. J. Imaging,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[9] Zhao et al. Robust elastic net for XLCT. Phys. Med. Biol., 2021.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[10] Sato et al. PHITS version 3.02. JNST, 2018.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E6C9"/>
                </a:solidFill>
                <a:latin typeface="Calibri"/>
              </a:defRPr>
            </a:pPr>
            <a:r>
              <a:t>Thank you for your attention!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Wang Kaiqi | 22355080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E6C9"/>
                </a:solidFill>
                <a:latin typeface="Calibri"/>
              </a:defRPr>
            </a:pPr>
            <a:r>
              <a:t>Supervisors: Prof. Shi Wei (CityU HK) &amp; Prof. Wang Kai (SYSU)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