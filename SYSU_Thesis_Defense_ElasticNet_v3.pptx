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Liberation Serif"/>
              </a:defRPr>
            </a:pPr>
            <a:r>
              <a:t>Sun Yat-sen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Liberation Serif"/>
              </a:defRPr>
            </a:pPr>
            <a:r>
              <a:t>Study of Radioactive Source Monitoring</a:t>
            </a:r>
            <a:br/>
            <a:r>
              <a:t>Based on ElasticNet Regression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C8E6C9"/>
                </a:solidFill>
                <a:latin typeface="Liberation Serif"/>
              </a:defRPr>
            </a:pPr>
            <a:r>
              <a:t>Bachelor's Thesis Defense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Liberation Serif"/>
              </a:defRPr>
            </a:pPr>
            <a:r>
              <a:t>Wang Kaiqi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C8E6C9"/>
                </a:solidFill>
                <a:latin typeface="Liberation Serif"/>
              </a:defRPr>
            </a:pPr>
            <a:r>
              <a:t>Sino-French Institute of Nuclear Engineering and Technology, Sun Yat-sen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48056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C8E6C9"/>
                </a:solidFill>
                <a:latin typeface="Liberation Serif"/>
              </a:defRPr>
            </a:pPr>
            <a:r>
              <a:t>Supervisors: Prof. Shi Wei (CityU HK) &amp; Prof. Wang Kai (SYSU)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2920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Liberation Serif"/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200" b="1">
                <a:solidFill>
                  <a:srgbClr val="FFFFFF"/>
                </a:solidFill>
                <a:latin typeface="Liberation Serif"/>
              </a:defRPr>
            </a:pPr>
            <a: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Wang Kaiqi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Sino-French Institute of Nuclear Engineering and Technology, SYSU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Study of Radioactive Source Monitoring Based on ElasticNet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1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0561F"/>
                </a:solidFill>
                <a:latin typeface="Liberation Serif"/>
              </a:defRPr>
            </a:pPr>
            <a:r>
              <a:t>1  Background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0561F"/>
                </a:solidFill>
                <a:latin typeface="Liberation Serif"/>
              </a:defRPr>
            </a:pPr>
            <a:r>
              <a:t>2  Literature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0561F"/>
                </a:solidFill>
                <a:latin typeface="Liberation Serif"/>
              </a:defRPr>
            </a:pPr>
            <a:r>
              <a:t>3  Theoretical Basis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0561F"/>
                </a:solidFill>
                <a:latin typeface="Liberation Serif"/>
              </a:defRPr>
            </a:pPr>
            <a:r>
              <a:t>4  Algorithm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108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0561F"/>
                </a:solidFill>
                <a:latin typeface="Liberation Serif"/>
              </a:defRPr>
            </a:pPr>
            <a:r>
              <a:t>5  PHITS Simulation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0561F"/>
                </a:solidFill>
                <a:latin typeface="Liberation Serif"/>
              </a:defRPr>
            </a:pPr>
            <a:r>
              <a:t>6  Results &amp;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0561F"/>
                </a:solidFill>
                <a:latin typeface="Liberation Serif"/>
              </a:defRPr>
            </a:pPr>
            <a:r>
              <a:t>7  Conclusions &amp; 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888888"/>
                </a:solidFill>
                <a:latin typeface="Liberation Serif"/>
              </a:defRPr>
            </a:pPr>
            <a:r>
              <a:t>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303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888888"/>
                </a:solidFill>
                <a:latin typeface="Liberation Serif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200" b="1">
                <a:solidFill>
                  <a:srgbClr val="FFFFFF"/>
                </a:solidFill>
                <a:latin typeface="Liberation Serif"/>
              </a:defRPr>
            </a:pPr>
            <a:r>
              <a:t>Research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Wang Kaiqi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Sino-French Institute of Nuclear Engineering and Technology, SYSU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Study of Radioactive Source Monitoring Based on ElasticNet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2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548640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Nuclear Facility Decommissioning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5486400" cy="49377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612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Global decommissioning projects increasing (Fukushima Daiichi, etc.)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36245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IAEA: Accurate source distribution is prerequisite for optimized decommissioning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00784"/>
            <a:ext cx="548640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Three-Dimensional Complexity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93392"/>
            <a:ext cx="5486400" cy="694944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03911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Composite sources: localized hot-spots + continuous activation + dispersed media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2402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Nuclide diversity: ¹³⁴Cs, ¹³⁷Cs, ⁶⁰Co, ¹³¹I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44144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Constraints: limited detectors, time, dose limits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22960"/>
            <a:ext cx="548640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Core Challenge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115568"/>
            <a:ext cx="5486400" cy="49377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1612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The inverse reconstruction problem is both underdetermined (m ≪ n) and ill-posed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36245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A single method must handle sparse hotspots, continuous regions, and multi-nuclide discrimination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200" b="1">
                <a:solidFill>
                  <a:srgbClr val="FFFFFF"/>
                </a:solidFill>
                <a:latin typeface="Liberation Serif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Wang Kaiqi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Sino-French Institute of Nuclear Engineering and Technology, SYSU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Study of Radioactive Source Monitoring Based on ElasticNet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3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822960"/>
            <a:ext cx="9144000" cy="731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822960"/>
            <a:ext cx="36576" cy="731520"/>
          </a:xfrm>
          <a:prstGeom prst="rect">
            <a:avLst/>
          </a:prstGeom>
          <a:solidFill>
            <a:srgbClr val="EA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868680"/>
            <a:ext cx="8869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A7500"/>
                </a:solidFill>
                <a:latin typeface="Liberation Serif"/>
              </a:defRPr>
            </a:pPr>
            <a:r>
              <a:t>Definition 4.1  Mathematical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14300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d = A · s + ε    where d: measurements, A: contribution matrix, s: source vector, ε: noise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1737360"/>
            <a:ext cx="914400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Key Challenges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029967"/>
            <a:ext cx="9144000" cy="694944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2075688"/>
            <a:ext cx="8869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Liberation Serif"/>
              </a:defRPr>
            </a:pPr>
            <a:r>
              <a:t>• Underdetermined: fewer detectors than unknowns (m ≪ 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276856"/>
            <a:ext cx="8869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Liberation Serif"/>
              </a:defRPr>
            </a:pPr>
            <a:r>
              <a:t>• Ill-posed: noisy data leads to unstable solutions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478024"/>
            <a:ext cx="8869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Liberation Serif"/>
              </a:defRPr>
            </a:pPr>
            <a:r>
              <a:t>• Mixed: sparse hot spots + continuous activation regions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200" b="1">
                <a:solidFill>
                  <a:srgbClr val="FFFFFF"/>
                </a:solidFill>
                <a:latin typeface="Liberation Serif"/>
              </a:defRPr>
            </a:pPr>
            <a:r>
              <a:t>Existing Methods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Wang Kaiqi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Sino-French Institute of Nuclear Engineering and Technology, SYSU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Study of Radioactive Source Monitoring Based on ElasticNet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4 /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82296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56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Sparse</a:t>
                      </a:r>
                    </a:p>
                  </a:txBody>
                  <a:tcPr>
                    <a:solidFill>
                      <a:srgbClr val="0056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Continuous</a:t>
                      </a:r>
                    </a:p>
                  </a:txBody>
                  <a:tcPr>
                    <a:solidFill>
                      <a:srgbClr val="0056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Multi-n.</a:t>
                      </a:r>
                    </a:p>
                  </a:txBody>
                  <a:tcPr>
                    <a:solidFill>
                      <a:srgbClr val="0056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0056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Core Limitation</a:t>
                      </a:r>
                    </a:p>
                  </a:txBody>
                  <a:tcPr>
                    <a:solidFill>
                      <a:srgbClr val="0056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ML-EM/MPMI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O(n³); noise sensitive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IRT-DEGL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V.Slow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Global optimization cost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Exc.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Over-compresses continuous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Fused 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Needs neighborhood graph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61F"/>
                          </a:solidFill>
                        </a:defRPr>
                      </a:pPr>
                      <a:r>
                        <a:t>ElasticNet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61F"/>
                          </a:solidFill>
                        </a:defRPr>
                      </a:pPr>
                      <a:r>
                        <a:t>Exc.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61F"/>
                          </a:solidFill>
                        </a:defRPr>
                      </a:pPr>
                      <a:r>
                        <a:t>Exc.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61F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61F"/>
                          </a:solidFill>
                        </a:defRPr>
                      </a:pPr>
                      <a:r>
                        <a:t>Fast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61F"/>
                          </a:solidFill>
                        </a:defRPr>
                      </a:pPr>
                      <a:r>
                        <a:t>Not yet applied to nuclear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50292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666666"/>
                </a:solidFill>
                <a:latin typeface="Liberation Serif"/>
              </a:defRPr>
            </a:pPr>
            <a:r>
              <a:t>Table: Comparison of radioactive source reconstruction methods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200" b="1">
                <a:solidFill>
                  <a:srgbClr val="FFFFFF"/>
                </a:solidFill>
                <a:latin typeface="Liberation Serif"/>
              </a:defRPr>
            </a:pPr>
            <a:r>
              <a:t>Why ElasticNet?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Wang Kaiqi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Sino-French Institute of Nuclear Engineering and Technology, SYSU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Study of Radioactive Source Monitoring Based on ElasticNet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5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548640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Advantages over LASSO and Fused LASSO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5486400" cy="694944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612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LASSO: over-compresses continuous regions to discrete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36245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Fused LASSO: needs predefined neighborhood graph + ADMM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563624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ElasticNet: L1+L2 synergy without extra spatial constraints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01952"/>
            <a:ext cx="548640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Cross-Domain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94560"/>
            <a:ext cx="5486400" cy="694944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2402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Nuclear medicine (SPECT): outperforms pure L1, L2, fixed-weight 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44144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XLCT imaging: superior localization + dual-source resolution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64261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Fluorescence molecular tomography: 30%+ error reduction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822960"/>
            <a:ext cx="5486400" cy="731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822960"/>
            <a:ext cx="36576" cy="731520"/>
          </a:xfrm>
          <a:prstGeom prst="rect">
            <a:avLst/>
          </a:prstGeom>
          <a:solidFill>
            <a:srgbClr val="00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868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7500"/>
                </a:solidFill>
                <a:latin typeface="Liberation Serif"/>
              </a:defRPr>
            </a:pPr>
            <a:r>
              <a:t>Theorem 2.1  Research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143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ElasticNet has NOT been applied to nuclear radioactive source monitoring — this thesis fills that gap.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200" b="1">
                <a:solidFill>
                  <a:srgbClr val="FFFFFF"/>
                </a:solidFill>
                <a:latin typeface="Liberation Serif"/>
              </a:defRPr>
            </a:pPr>
            <a:r>
              <a:t>ElasticNet Regression Formulation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Wang Kaiqi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Sino-French Institute of Nuclear Engineering and Technology, SYSU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Study of Radioactive Source Monitoring Based on ElasticNet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6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822960"/>
            <a:ext cx="36576" cy="731520"/>
          </a:xfrm>
          <a:prstGeom prst="rect">
            <a:avLst/>
          </a:prstGeom>
          <a:solidFill>
            <a:srgbClr val="EA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868680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A7500"/>
                </a:solidFill>
                <a:latin typeface="Liberation Serif"/>
              </a:defRPr>
            </a:pPr>
            <a:r>
              <a:t>Definition 3.1  Objective Function (Zou &amp; Hastie, 2005)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14300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min_w  ||y - Xw||²₂ + α [ ρ||w||₁ + (1-ρ)/2 · ||w||²₂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37360"/>
            <a:ext cx="548640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L1 vs. L2 Penalty Roles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29967"/>
            <a:ext cx="5486400" cy="694944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0756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L1: promotes sparsity → hot-spot localization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27685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L2: groups correlated variables, suppresses oscillation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478024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ρ → 1: LASSO;  ρ → 0: Ridge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737360"/>
            <a:ext cx="548640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Key Properties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029967"/>
            <a:ext cx="5486400" cy="49377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0756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Strictly convex when λ₂ &gt; 0 → unique global minimum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27685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Solved by Coordinate Descent; no ADMM convergence issues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200" b="1">
                <a:solidFill>
                  <a:srgbClr val="FFFFFF"/>
                </a:solidFill>
                <a:latin typeface="Liberation Serif"/>
              </a:defRPr>
            </a:pPr>
            <a:r>
              <a:t>Physical Interpretation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Wang Kaiqi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Sino-French Institute of Nuclear Engineering and Technology, SYSU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Study of Radioactive Source Monitoring Based on ElasticNet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7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548640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L1: Sparse Hot-Spot Localization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5486400" cy="49377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612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Count-type penalty on 'how many grid cells contain sources'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36245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Drives irrelevant coefficients to exact zero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822960"/>
            <a:ext cx="548640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L2: Continuous Region Smoothing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115568"/>
            <a:ext cx="5486400" cy="49377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1612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Suppresses individual amplitude, promotes similar neighboring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36245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Preserves continuous region morphology (not discrete spots like LASSO)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560320"/>
            <a:ext cx="36576" cy="731520"/>
          </a:xfrm>
          <a:prstGeom prst="rect">
            <a:avLst/>
          </a:prstGeom>
          <a:solidFill>
            <a:srgbClr val="00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606039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7500"/>
                </a:solidFill>
                <a:latin typeface="Liberation Serif"/>
              </a:defRPr>
            </a:pPr>
            <a:r>
              <a:t>Theorem 3.1  Synergy Effect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88036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Near hotspots: L1 dominates → precise localization. Inside continuous regions: L2 dominates → smooth morphology. Transition zones: both cooperate.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200" b="1">
                <a:solidFill>
                  <a:srgbClr val="FFFFFF"/>
                </a:solidFill>
                <a:latin typeface="Liberation Serif"/>
              </a:defRPr>
            </a:pPr>
            <a:r>
              <a:t>Algorithm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Wang Kaiqi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Sino-French Institute of Nuclear Engineering and Technology, SYSU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Study of Radioactive Source Monitoring Based on ElasticNet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8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1288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Stage 1: Preprocessing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11612880" cy="694944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61288"/>
            <a:ext cx="11338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Column normalization: scale each column of A to unit L₂ norm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362456"/>
            <a:ext cx="11338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Non-negative SVD matrix 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563624"/>
            <a:ext cx="11338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Condition number assessment for adaptive α range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01952"/>
            <a:ext cx="1161288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Stage 2: ElasticNet Optimization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94560"/>
            <a:ext cx="11612880" cy="694944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240280"/>
            <a:ext cx="11338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ElasticNet(positive=True) — hard non-negativity 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441448"/>
            <a:ext cx="11338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GridSearchCV: α (50 values), ρ (80 values), 5-fold CV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642616"/>
            <a:ext cx="11338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Custom intercept penalty for |β₀/ȳ| &gt; 10%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980944"/>
            <a:ext cx="1161288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Stage 3: Post-processing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73552"/>
            <a:ext cx="11612880" cy="49377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3319272"/>
            <a:ext cx="11338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Denormalize: w_est = w_norm ⊘ col_norms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3520440"/>
            <a:ext cx="11338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Non-negative truncation, intercept analysis, evaluation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200" b="1">
                <a:solidFill>
                  <a:srgbClr val="FFFFFF"/>
                </a:solidFill>
                <a:latin typeface="Liberation Serif"/>
              </a:defRPr>
            </a:pPr>
            <a:r>
              <a:t>Key Optimization: Column Normalization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Wang Kaiqi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Sino-French Institute of Nuclear Engineering and Technology, SYSU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Study of Radioactive Source Monitoring Based on ElasticNet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9 / 25</a:t>
            </a:r>
          </a:p>
        </p:txBody>
      </p:sp>
      <p:pic>
        <p:nvPicPr>
          <p:cNvPr id="6" name="Picture 5" descr="fig_04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822960"/>
            <a:ext cx="7315200" cy="35288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23847" y="43975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66666"/>
                </a:solidFill>
                <a:latin typeface="Liberation Serif"/>
              </a:defRPr>
            </a:pPr>
            <a:r>
              <a:t>Figure: Column normalization: cond=100, 5 runs all achieve MSE=10⁻⁴ to 10⁻⁹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200" b="1">
                <a:solidFill>
                  <a:srgbClr val="FFFFFF"/>
                </a:solidFill>
                <a:latin typeface="Liberation Serif"/>
              </a:defRPr>
            </a:pPr>
            <a:r>
              <a:t>Non-negative SVD + Non-negative ElasticNet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Wang Kaiqi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Sino-French Institute of Nuclear Engineering and Technology, SYSU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Study of Radioactive Source Monitoring Based on ElasticNet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10 / 25</a:t>
            </a:r>
          </a:p>
        </p:txBody>
      </p:sp>
      <p:pic>
        <p:nvPicPr>
          <p:cNvPr id="6" name="Picture 5" descr="fig_06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822960"/>
            <a:ext cx="7315200" cy="35698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23847" y="4438497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66666"/>
                </a:solidFill>
                <a:latin typeface="Liberation Serif"/>
              </a:defRPr>
            </a:pPr>
            <a:r>
              <a:t>Figure: Non-negative SVD + non-negative EN: Exp1/Exp3 reach MSE=10⁻⁹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200" b="1">
                <a:solidFill>
                  <a:srgbClr val="FFFFFF"/>
                </a:solidFill>
                <a:latin typeface="Liberation Serif"/>
              </a:defRPr>
            </a:pPr>
            <a:r>
              <a:t>Intercept Fitting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Wang Kaiqi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Sino-French Institute of Nuclear Engineering and Technology, SYSU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Study of Radioactive Source Monitoring Based on ElasticNet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11 / 25</a:t>
            </a:r>
          </a:p>
        </p:txBody>
      </p:sp>
      <p:pic>
        <p:nvPicPr>
          <p:cNvPr id="6" name="Picture 5" descr="fig_07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486400" cy="26351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359528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66666"/>
                </a:solidFill>
                <a:latin typeface="Liberation Serif"/>
              </a:defRPr>
            </a:pPr>
            <a:r>
              <a:t>Good case: small intercept</a:t>
            </a:r>
          </a:p>
        </p:txBody>
      </p:sp>
      <p:pic>
        <p:nvPicPr>
          <p:cNvPr id="8" name="Picture 7" descr="fig_08_p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486400" cy="25716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3531737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66666"/>
                </a:solidFill>
                <a:latin typeface="Liberation Serif"/>
              </a:defRPr>
            </a:pPr>
            <a:r>
              <a:t>Bad case: large intercept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200" b="1">
                <a:solidFill>
                  <a:srgbClr val="FFFFFF"/>
                </a:solidFill>
                <a:latin typeface="Liberation Serif"/>
              </a:defRPr>
            </a:pPr>
            <a:r>
              <a:t>PHITS Simulation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Wang Kaiqi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Sino-French Institute of Nuclear Engineering and Technology, SYSU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Study of Radioactive Source Monitoring Based on ElasticNet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12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502920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PHITS (JAEA): Monte Carlo Particle Transport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502920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61288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10⁸ particles × 100 batches; Cs-137, 0.662 MeV γ-ray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1828800"/>
          <a:ext cx="11612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6440"/>
                <a:gridCol w="58064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56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56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Simulation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Spherical (R=10m, reactor-centered)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Radioactive 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10 Cs-137 point sources, 1 Ci each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Detectors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8 spherical detectors (R=25mm)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Grid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4 × 3 = 12 cells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Contribution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8 × 12 (only 11/96 non-zero)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Matrix 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6/8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200" b="1">
                <a:solidFill>
                  <a:srgbClr val="FFFFFF"/>
                </a:solidFill>
                <a:latin typeface="Liberation Serif"/>
              </a:defRPr>
            </a:pPr>
            <a:r>
              <a:t>Source-Detector Geometry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Wang Kaiqi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Sino-French Institute of Nuclear Engineering and Technology, SYSU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Study of Radioactive Source Monitoring Based on ElasticNet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13 / 25</a:t>
            </a:r>
          </a:p>
        </p:txBody>
      </p:sp>
      <p:pic>
        <p:nvPicPr>
          <p:cNvPr id="6" name="Picture 5" descr="fig_12_p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4114800" cy="42351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1097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Liberation Serif"/>
              </a:defRPr>
            </a:pPr>
            <a:r>
              <a:t>• 10 Cs-137 point sources (1 Ci)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554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Liberation Serif"/>
              </a:defRPr>
            </a:pPr>
            <a:r>
              <a:t>• 4 × 3 = 12 grid cells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011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Liberation Serif"/>
              </a:defRPr>
            </a:pPr>
            <a:r>
              <a:t>• 8 spherical detectors (R=25mm)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468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Liberation Serif"/>
              </a:defRPr>
            </a:pPr>
            <a:r>
              <a:t>• 7 active cells, 5 empty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26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Liberation Serif"/>
              </a:defRPr>
            </a:pPr>
            <a:r>
              <a:t>• Matrix: 8 × 12, rank=6/8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200" b="1">
                <a:solidFill>
                  <a:srgbClr val="FFFFFF"/>
                </a:solidFill>
                <a:latin typeface="Liberation Serif"/>
              </a:defRPr>
            </a:pPr>
            <a:r>
              <a:t>PHITS Validation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Wang Kaiqi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Sino-French Institute of Nuclear Engineering and Technology, SYSU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Study of Radioactive Source Monitoring Based on ElasticNet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14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0561F"/>
                </a:solidFill>
                <a:latin typeface="Liberation Serif"/>
              </a:defRPr>
            </a:pPr>
            <a:r>
              <a:t>Best: α = 10⁻⁶, l1_ratio = 0.99, R² = 0.463  |  7 non-zero cells detected, 5 with &lt;2% error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1280160"/>
          <a:ext cx="9144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Cell</a:t>
                      </a:r>
                    </a:p>
                  </a:txBody>
                  <a:tcPr>
                    <a:solidFill>
                      <a:srgbClr val="0056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True (GBq)</a:t>
                      </a:r>
                    </a:p>
                  </a:txBody>
                  <a:tcPr>
                    <a:solidFill>
                      <a:srgbClr val="0056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Estimate (GBq)</a:t>
                      </a:r>
                    </a:p>
                  </a:txBody>
                  <a:tcPr>
                    <a:solidFill>
                      <a:srgbClr val="0056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Error</a:t>
                      </a:r>
                    </a:p>
                  </a:txBody>
                  <a:tcPr>
                    <a:solidFill>
                      <a:srgbClr val="00561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1.265×10⁵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1.265×10⁵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561F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Cell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5.266×10⁴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3.93×10²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C0000"/>
                          </a:solidFill>
                        </a:defRPr>
                      </a:pPr>
                      <a:r>
                        <a:t>99.3%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Cell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1.192×10⁵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2.31×10³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C0000"/>
                          </a:solidFill>
                        </a:defRPr>
                      </a:pPr>
                      <a:r>
                        <a:t>98.1%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Cell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5.894×10⁴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5.894×10⁴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561F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Cell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5.724×10⁴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5.724×10⁴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561F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Cell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4.870×10⁴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4.870×10⁴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561F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Cell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1.352×10⁵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1.373×10⁵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561F"/>
                          </a:solidFill>
                        </a:defRPr>
                      </a:pPr>
                      <a:r>
                        <a:t>1.2%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200" b="1">
                <a:solidFill>
                  <a:srgbClr val="FFFFFF"/>
                </a:solidFill>
                <a:latin typeface="Liberation Serif"/>
              </a:defRPr>
            </a:pPr>
            <a:r>
              <a:t>Reconstruction Visualization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Wang Kaiqi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Sino-French Institute of Nuclear Engineering and Technology, SYSU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Study of Radioactive Source Monitoring Based on ElasticNet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15 / 25</a:t>
            </a:r>
          </a:p>
        </p:txBody>
      </p:sp>
      <p:pic>
        <p:nvPicPr>
          <p:cNvPr id="6" name="Picture 5" descr="fig_14_p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486400" cy="23162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32764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66666"/>
                </a:solidFill>
                <a:latin typeface="Liberation Serif"/>
              </a:defRPr>
            </a:pPr>
            <a:r>
              <a:t>True vs. estimated distribution</a:t>
            </a:r>
          </a:p>
        </p:txBody>
      </p:sp>
      <p:pic>
        <p:nvPicPr>
          <p:cNvPr id="8" name="Picture 7" descr="fig_13_p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486400" cy="41179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5078097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66666"/>
                </a:solidFill>
                <a:latin typeface="Liberation Serif"/>
              </a:defRPr>
            </a:pPr>
            <a:r>
              <a:t>Contribution matrix heatmap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200" b="1">
                <a:solidFill>
                  <a:srgbClr val="FFFFFF"/>
                </a:solidFill>
                <a:latin typeface="Liberation Serif"/>
              </a:defRPr>
            </a:pPr>
            <a:r>
              <a:t>Error Source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Wang Kaiqi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Sino-French Institute of Nuclear Engineering and Technology, SYSU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Study of Radioactive Source Monitoring Based on ElasticNet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16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1288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Cell 5 &amp; 6 Failure — Physical, Not Algorithmic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11612880" cy="49377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61288"/>
            <a:ext cx="11338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Cell 6: only Detector 1 responds, weak signal (10⁻⁹ level)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362456"/>
            <a:ext cx="11338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Cell 5: only Detector 5 responds, weak signal (10⁻¹⁰ level)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700784"/>
            <a:ext cx="10058400" cy="731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700784"/>
            <a:ext cx="36576" cy="731520"/>
          </a:xfrm>
          <a:prstGeom prst="rect">
            <a:avLst/>
          </a:prstGeom>
          <a:solidFill>
            <a:srgbClr val="00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746504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7500"/>
                </a:solidFill>
                <a:latin typeface="Liberation Serif"/>
              </a:defRPr>
            </a:pPr>
            <a:r>
              <a:t>Theorem 6.1  Matrix Rank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020824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Rank of A = 6/8. Only 6 of 12 cells algebraically distinguishable. Physical indistinguishability from detector geometry, NOT algorithm failure.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615184"/>
            <a:ext cx="1005840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Implication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907792"/>
            <a:ext cx="1005840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953512"/>
            <a:ext cx="9784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Improved detector layout would resolve these errors. ElasticNet is NOT the bottleneck.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200" b="1">
                <a:solidFill>
                  <a:srgbClr val="FFFFFF"/>
                </a:solidFill>
                <a:latin typeface="Liberation Serif"/>
              </a:defRPr>
            </a:pPr>
            <a:r>
              <a:t>Condition Number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Wang Kaiqi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Sino-French Institute of Nuclear Engineering and Technology, SYSU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Study of Radioactive Source Monitoring Based on ElasticNet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17 / 25</a:t>
            </a:r>
          </a:p>
        </p:txBody>
      </p:sp>
      <p:pic>
        <p:nvPicPr>
          <p:cNvPr id="6" name="Picture 5" descr="fig_16_p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293" y="822960"/>
            <a:ext cx="7151109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23847" y="5897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66666"/>
                </a:solidFill>
                <a:latin typeface="Liberation Serif"/>
              </a:defRPr>
            </a:pPr>
            <a:r>
              <a:t>Figure: Comparison of adaptive CV, segmented search, and fusion strategies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200" b="1">
                <a:solidFill>
                  <a:srgbClr val="FFFFFF"/>
                </a:solidFill>
                <a:latin typeface="Liberation Serif"/>
              </a:defRPr>
            </a:pPr>
            <a:r>
              <a:t>Bayesian Optimization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Wang Kaiqi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Sino-French Institute of Nuclear Engineering and Technology, SYSU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Study of Radioactive Source Monitoring Based on ElasticNet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18 / 25</a:t>
            </a:r>
          </a:p>
        </p:txBody>
      </p:sp>
      <p:pic>
        <p:nvPicPr>
          <p:cNvPr id="6" name="Picture 5" descr="fig_17_p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486400" cy="27191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3679273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66666"/>
                </a:solidFill>
                <a:latin typeface="Liberation Serif"/>
              </a:defRPr>
            </a:pPr>
            <a:r>
              <a:t>Bayesian opt.: sparse source</a:t>
            </a:r>
          </a:p>
        </p:txBody>
      </p:sp>
      <p:pic>
        <p:nvPicPr>
          <p:cNvPr id="8" name="Picture 7" descr="fig_21_p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486400" cy="16581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2618307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66666"/>
                </a:solidFill>
                <a:latin typeface="Liberation Serif"/>
              </a:defRPr>
            </a:pPr>
            <a:r>
              <a:t>Bayesian + PHITS validation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200" b="1">
                <a:solidFill>
                  <a:srgbClr val="FFFFFF"/>
                </a:solidFill>
                <a:latin typeface="Liberation Serif"/>
              </a:defRPr>
            </a:pPr>
            <a:r>
              <a:t>Grid Search vs. Bayesian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Wang Kaiqi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Sino-French Institute of Nuclear Engineering and Technology, SYSU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Study of Radioactive Source Monitoring Based on ElasticNet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19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502920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Difficulty Inflection Points at Cond ≈ 150 and 300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5029200" cy="49377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61288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Not 'more ill-conditioned = harder' — critical spectral structure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362456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Optimal l1_ratio ≈ 0.99 universally — confirms strong sparsity prior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0" y="822960"/>
          <a:ext cx="5943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056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Grid Search</a:t>
                      </a:r>
                    </a:p>
                  </a:txBody>
                  <a:tcPr>
                    <a:solidFill>
                      <a:srgbClr val="0056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Bayesian Opt.</a:t>
                      </a:r>
                    </a:p>
                  </a:txBody>
                  <a:tcPr>
                    <a:solidFill>
                      <a:srgbClr val="0056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Evaluations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150–450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5–10× faster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Accuracy (low cond)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Comparable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Accuracy (high cond)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Higher ceiling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Slightly worse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43600" y="36576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66666"/>
                </a:solidFill>
                <a:latin typeface="Liberation Serif"/>
              </a:defRPr>
            </a:pPr>
            <a:r>
              <a:t>Complementary, not substitutive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200" b="1">
                <a:solidFill>
                  <a:srgbClr val="FFFFFF"/>
                </a:solidFill>
                <a:latin typeface="Liberation Serif"/>
              </a:defRPr>
            </a:pPr>
            <a:r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Wang Kaiqi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Sino-French Institute of Nuclear Engineering and Technology, SYSU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Study of Radioactive Source Monitoring Based on ElasticNet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20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1288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1. ElasticNet fills the application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1161288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61288"/>
            <a:ext cx="11338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Liberation Serif"/>
              </a:defRPr>
            </a:pPr>
            <a:r>
              <a:t>• Effectively handles 'sparse + continuous' composite source reconstruction.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9616"/>
            <a:ext cx="1161288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2. Optimization strategies improve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92224"/>
            <a:ext cx="1161288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837944"/>
            <a:ext cx="11338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Liberation Serif"/>
              </a:defRPr>
            </a:pPr>
            <a:r>
              <a:t>• Column normalization + adaptive α + non-negative constraint + intercept penalty.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76272"/>
            <a:ext cx="1161288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3. PHITS validation confirms practical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68880"/>
            <a:ext cx="1161288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2514600"/>
            <a:ext cx="11338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Liberation Serif"/>
              </a:defRPr>
            </a:pPr>
            <a:r>
              <a:t>• All 7 non-zero cells detected; 5 cells with &lt;2% error.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52928"/>
            <a:ext cx="1161288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4. Bayesian optimization: complementary to grid 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145536"/>
            <a:ext cx="1161288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191256"/>
            <a:ext cx="11338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Liberation Serif"/>
              </a:defRPr>
            </a:pPr>
            <a:r>
              <a:t>• 70–90% computation savings; grid search has higher accuracy ceiling.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200" b="1">
                <a:solidFill>
                  <a:srgbClr val="FFFFFF"/>
                </a:solidFill>
                <a:latin typeface="Liberation Serif"/>
              </a:defRPr>
            </a:pPr>
            <a: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Wang Kaiqi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Sino-French Institute of Nuclear Engineering and Technology, SYSU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Study of Radioactive Source Monitoring Based on ElasticNet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21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1288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Mobile Detection Platforms (UGV / UAV)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1161288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61288"/>
            <a:ext cx="11338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Autonomous patrol → richer contribution matrix → improved stability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9616"/>
            <a:ext cx="1161288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Algorithm Improvements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92224"/>
            <a:ext cx="11612880" cy="694944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837944"/>
            <a:ext cx="11338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Adaptive ElasticNet for automatic variable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039112"/>
            <a:ext cx="11338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Bayesian ElasticNet with uncertainty quantification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240280"/>
            <a:ext cx="11338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Deep learning + ElasticNet model cascade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78608"/>
            <a:ext cx="11612880" cy="292608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FFFFFF"/>
                </a:solidFill>
                <a:latin typeface="Liberation Serif"/>
              </a:defRPr>
            </a:pPr>
            <a:r>
              <a:t>Extended Applications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71216"/>
            <a:ext cx="11612880" cy="493776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2916936"/>
            <a:ext cx="11338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Multi-energy source discrimination &amp; 3D volumetric reconstruction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118104"/>
            <a:ext cx="11338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Liberation Serif"/>
              </a:defRPr>
            </a:pPr>
            <a:r>
              <a:t>• Real-time online reconstruction system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200" b="1">
                <a:solidFill>
                  <a:srgbClr val="FFFFFF"/>
                </a:solidFill>
                <a:latin typeface="Liberation Serif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Wang Kaiqi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Sino-French Institute of Nuclear Engineering and Technology, SYSU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800">
                <a:solidFill>
                  <a:srgbClr val="FFFFFF"/>
                </a:solidFill>
                <a:latin typeface="Liberation Serif"/>
              </a:rPr>
              <a:t>Study of Radioactive Source Monitoring Based on ElasticNet</a:t>
            </a:r>
            <a:r>
              <a:rPr sz="800">
                <a:solidFill>
                  <a:srgbClr val="FFFFFF"/>
                </a:solidFill>
                <a:latin typeface="Liberation Serif"/>
              </a:rPr>
              <a:t>    22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  <a:latin typeface="Liberation Serif"/>
              </a:defRPr>
            </a:pPr>
            <a:r>
              <a:t>[1] Tibshirani R. Regression shrinkage and selection via the lasso. JRSS-B, 1996.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  <a:latin typeface="Liberation Serif"/>
              </a:defRPr>
            </a:pPr>
            <a:r>
              <a:t>[2] Hoerl &amp; Kennard. Ridge regression. Technometrics, 1970.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  <a:latin typeface="Liberation Serif"/>
              </a:defRPr>
            </a:pPr>
            <a:r>
              <a:t>[3] Sugaya et al. Inverse estimation for fuel debris search. ANE, 2019.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  <a:latin typeface="Liberation Serif"/>
              </a:defRPr>
            </a:pPr>
            <a:r>
              <a:t>[4] Shi W et al. LASSO with spectral information. ANE, 2023.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  <a:latin typeface="Liberation Serif"/>
              </a:defRPr>
            </a:pPr>
            <a:r>
              <a:t>[5] Shi W et al. LASSO: Theory and demonstration. PNE, 2023.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  <a:latin typeface="Liberation Serif"/>
              </a:defRPr>
            </a:pPr>
            <a:r>
              <a:t>[6] Yamada et al. Fused LASSO for radioactive materials. WM2024, 2024.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  <a:latin typeface="Liberation Serif"/>
              </a:defRPr>
            </a:pPr>
            <a:r>
              <a:t>[7] Zou &amp; Hastie. Regularization via the elastic net. JRSS-B, 2005.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  <a:latin typeface="Liberation Serif"/>
              </a:defRPr>
            </a:pPr>
            <a:r>
              <a:t>[8] Kasai &amp; Otsuka. Dynamic elastic net for nuclear medicine. J. Imaging, 2025.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  <a:latin typeface="Liberation Serif"/>
              </a:defRPr>
            </a:pPr>
            <a:r>
              <a:t>[9] Zhao et al. Robust elastic net for XLCT. Phys. Med. Biol., 2021.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40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  <a:latin typeface="Liberation Serif"/>
              </a:defRPr>
            </a:pPr>
            <a:r>
              <a:t>[10] Sato et al. PHITS version 3.02. JNST, 2018.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8E8E8"/>
                </a:solidFill>
                <a:latin typeface="Liberation Serif"/>
              </a:defRPr>
            </a:pPr>
            <a:r>
              <a:t>SYSU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Liberation Serif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C8E6C9"/>
                </a:solidFill>
                <a:latin typeface="Liberation Serif"/>
              </a:defRPr>
            </a:pPr>
            <a:r>
              <a:t>Thank you for your attention!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FFFFFF"/>
                </a:solidFill>
                <a:latin typeface="Liberation Serif"/>
              </a:defRPr>
            </a:pPr>
            <a:r>
              <a:t>Wang Kaiqi | 22355080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C8E6C9"/>
                </a:solidFill>
                <a:latin typeface="Liberation Serif"/>
              </a:defRPr>
            </a:pPr>
            <a:r>
              <a:t>Supervisors: Prof. Shi Wei (CityU HK) &amp; Prof. Wang Kai (SYSU)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