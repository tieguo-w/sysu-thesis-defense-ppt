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400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49A2A"/>
                </a:solidFill>
                <a:latin typeface="Calibri"/>
              </a:defRPr>
            </a:pPr>
            <a:r>
              <a:t>Sun Yat-sen University | 中山大学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BB"/>
                </a:solidFill>
                <a:latin typeface="Calibri"/>
              </a:defRPr>
            </a:pPr>
            <a:r>
              <a:t>Sino-French Institute of Nuclear Engineering and Technology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645920"/>
            <a:ext cx="5790895" cy="27432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Study of Radioactive Source Monitoring</a:t>
            </a:r>
            <a:br/>
            <a:r>
              <a:t>Based on ElasticNet Regression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AAAA"/>
                </a:solidFill>
                <a:latin typeface="Calibri"/>
              </a:defRPr>
            </a:pPr>
            <a:r>
              <a:t>基于弹性网络回归算法的放射源监测研究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023360"/>
            <a:ext cx="5790895" cy="27432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103628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Candidate: Wang Kaiqi (王开齐)  |  Student ID: 22355080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81728"/>
            <a:ext cx="103628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  <a:latin typeface="Calibri"/>
              </a:defRPr>
            </a:pPr>
            <a:r>
              <a:t>Supervisors: Prof. Shi Wei (CityU HK) &amp; Prof. Wang Kai (SYSU)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65776"/>
            <a:ext cx="103628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  <a:latin typeface="Calibri"/>
              </a:defRPr>
            </a:pPr>
            <a:r>
              <a:t>Major: Nuclear Engineering and Nuclear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49824"/>
            <a:ext cx="103628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  <a:latin typeface="Calibri"/>
              </a:defRPr>
            </a:pPr>
            <a:r>
              <a:t>Bachelor's Thesis Defense  |  April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Sun Yat-sen University | Sino-French Institute of Nuclear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64008" cy="50292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Outline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2 / 20</a:t>
            </a:r>
          </a:p>
        </p:txBody>
      </p:sp>
      <p:sp>
        <p:nvSpPr>
          <p:cNvPr id="9" name="Oval 8"/>
          <p:cNvSpPr/>
          <p:nvPr/>
        </p:nvSpPr>
        <p:spPr>
          <a:xfrm>
            <a:off x="1645920" y="2011680"/>
            <a:ext cx="384048" cy="38404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03911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Calibri"/>
              </a:defRPr>
            </a:pPr>
            <a:r>
              <a:t>Research Background &amp; Problem Statement</a:t>
            </a:r>
          </a:p>
        </p:txBody>
      </p:sp>
      <p:sp>
        <p:nvSpPr>
          <p:cNvPr id="11" name="Oval 10"/>
          <p:cNvSpPr/>
          <p:nvPr/>
        </p:nvSpPr>
        <p:spPr>
          <a:xfrm>
            <a:off x="1645920" y="2514600"/>
            <a:ext cx="384048" cy="38404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5420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Calibri"/>
              </a:defRPr>
            </a:pPr>
            <a:r>
              <a:t>Literature Review: LASSO, Fused LASSO, and Alternatives</a:t>
            </a:r>
          </a:p>
        </p:txBody>
      </p:sp>
      <p:sp>
        <p:nvSpPr>
          <p:cNvPr id="13" name="Oval 12"/>
          <p:cNvSpPr/>
          <p:nvPr/>
        </p:nvSpPr>
        <p:spPr>
          <a:xfrm>
            <a:off x="1645920" y="3017520"/>
            <a:ext cx="384048" cy="38404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0449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Calibri"/>
              </a:defRPr>
            </a:pPr>
            <a:r>
              <a:t>Theoretical Basis: Ill-posed Systems &amp; ElasticNet Formulation</a:t>
            </a:r>
          </a:p>
        </p:txBody>
      </p:sp>
      <p:sp>
        <p:nvSpPr>
          <p:cNvPr id="15" name="Oval 14"/>
          <p:cNvSpPr/>
          <p:nvPr/>
        </p:nvSpPr>
        <p:spPr>
          <a:xfrm>
            <a:off x="1645920" y="3520440"/>
            <a:ext cx="384048" cy="38404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54787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Calibri"/>
              </a:defRPr>
            </a:pPr>
            <a:r>
              <a:t>Algorithm Implementation &amp; Optimization Strategies</a:t>
            </a:r>
          </a:p>
        </p:txBody>
      </p:sp>
      <p:sp>
        <p:nvSpPr>
          <p:cNvPr id="17" name="Oval 16"/>
          <p:cNvSpPr/>
          <p:nvPr/>
        </p:nvSpPr>
        <p:spPr>
          <a:xfrm>
            <a:off x="1645920" y="4023360"/>
            <a:ext cx="384048" cy="38404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05079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Calibri"/>
              </a:defRPr>
            </a:pPr>
            <a:r>
              <a:t>PHITS Monte Carlo Simulation &amp; Contribution Matrix</a:t>
            </a:r>
          </a:p>
        </p:txBody>
      </p:sp>
      <p:sp>
        <p:nvSpPr>
          <p:cNvPr id="19" name="Oval 18"/>
          <p:cNvSpPr/>
          <p:nvPr/>
        </p:nvSpPr>
        <p:spPr>
          <a:xfrm>
            <a:off x="1645920" y="4526280"/>
            <a:ext cx="384048" cy="38404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55371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Calibri"/>
              </a:defRPr>
            </a:pPr>
            <a:r>
              <a:t>Numerical Experiments: Benchmark Validation</a:t>
            </a:r>
          </a:p>
        </p:txBody>
      </p:sp>
      <p:sp>
        <p:nvSpPr>
          <p:cNvPr id="21" name="Oval 20"/>
          <p:cNvSpPr/>
          <p:nvPr/>
        </p:nvSpPr>
        <p:spPr>
          <a:xfrm>
            <a:off x="1645920" y="5029200"/>
            <a:ext cx="384048" cy="38404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0566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Calibri"/>
              </a:defRPr>
            </a:pPr>
            <a:r>
              <a:t>PHITS Physical Validation Results</a:t>
            </a:r>
          </a:p>
        </p:txBody>
      </p:sp>
      <p:sp>
        <p:nvSpPr>
          <p:cNvPr id="23" name="Oval 22"/>
          <p:cNvSpPr/>
          <p:nvPr/>
        </p:nvSpPr>
        <p:spPr>
          <a:xfrm>
            <a:off x="1645920" y="5532120"/>
            <a:ext cx="384048" cy="38404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55595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Calibri"/>
              </a:defRPr>
            </a:pPr>
            <a:r>
              <a:t>Bayesian Optimization Experiments</a:t>
            </a:r>
          </a:p>
        </p:txBody>
      </p:sp>
      <p:sp>
        <p:nvSpPr>
          <p:cNvPr id="25" name="Oval 24"/>
          <p:cNvSpPr/>
          <p:nvPr/>
        </p:nvSpPr>
        <p:spPr>
          <a:xfrm>
            <a:off x="1645920" y="6035040"/>
            <a:ext cx="384048" cy="384048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606247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Calibri"/>
              </a:defRPr>
            </a:pPr>
            <a:r>
              <a:t>Conclusions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Sun Yat-sen University | Sino-French Institute of Nuclear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64008" cy="50292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Research 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Nuclear facility decommissioning &amp; emergency response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3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▸ Nuclear decommissioning is growing worldwide (Fukushima Daiichi, etc.)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▸ IAEA: Accurate source distribution is prerequisite for optimized decommissioning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▸ Three-dimensional complexity of radioactive sources in confined spaces: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 (1) Composite source types: localized hot-spots + continuous activation zones + dispersed media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 (2) Nuclide diversity: ¹³⁴Cs, ¹³⁷Cs, ⁶⁰Co, ¹³¹I — different energy spectra &amp; biological effects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 (3) Measurement constraints: limited detectors, limited time, dose exposure limits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▸ The inverse reconstruction problem is both underdetermined (m &lt; n) and ill-posed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▸ A single method must: locate sparse hotspots, reconstruct continuous regions,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distinguish nuclides, and be computationally efficient for field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Sun Yat-sen University | Sino-French Institute of Nuclear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64008" cy="50292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Existing methods and their limitations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4 /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11064240" cy="64008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01168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Sparse</a:t>
            </a:r>
            <a:br/>
            <a:r>
              <a:t>Loc.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01168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Continuous</a:t>
            </a:r>
            <a:br/>
            <a:r>
              <a:t>Region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01168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Multi-</a:t>
            </a:r>
            <a:br/>
            <a:r>
              <a:t>nuclide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Computation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0116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Core Limitation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97480"/>
            <a:ext cx="1106424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7432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ML-EM / MPMI</a:t>
            </a:r>
            <a:br/>
            <a:r>
              <a:t>(Sugaya et al.)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74320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Fair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274320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Good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74320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Poor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74320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Slow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7432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O(n³) cost; noise sensitive;</a:t>
            </a:r>
            <a:br/>
            <a:r>
              <a:t>no sparsity mechanism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474720"/>
            <a:ext cx="110642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520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IRT-DEGL</a:t>
            </a:r>
            <a:br/>
            <a:r>
              <a:t>(Chen et al.)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52044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Fair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352044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Fair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52044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Fair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52044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Very slow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352044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Global optimization:</a:t>
            </a:r>
            <a:br/>
            <a:r>
              <a:t>massive sampling required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251960"/>
            <a:ext cx="1106424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2976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LASSO</a:t>
            </a:r>
            <a:br/>
            <a:r>
              <a:t>(Shi et al., JAEA)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29768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Excellent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429768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Poor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429768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Good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29768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Fast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42976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Over-compresses continuous</a:t>
            </a:r>
            <a:br/>
            <a:r>
              <a:t>regions to discrete points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0749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Fused LASSO</a:t>
            </a:r>
            <a:br/>
            <a:r>
              <a:t>(Yamada et al.)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50749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Fair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23360" y="50749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Good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0" y="507492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Good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0749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50749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Needs predefined neighborhood</a:t>
            </a:r>
            <a:br/>
            <a:r>
              <a:t>graph; ADMM complexity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806440"/>
            <a:ext cx="11064240" cy="731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852159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ElasticNet</a:t>
            </a:r>
            <a:br/>
            <a:r>
              <a:t>(This work)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5852159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B3F"/>
                </a:solidFill>
                <a:latin typeface="Calibri"/>
              </a:defRPr>
            </a:pPr>
            <a:r>
              <a:t>Excellent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23360" y="5852159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B3F"/>
                </a:solidFill>
                <a:latin typeface="Calibri"/>
              </a:defRPr>
            </a:pPr>
            <a:r>
              <a:t>Excellent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3520" y="5852159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Calibri"/>
              </a:defRPr>
            </a:pPr>
            <a:r>
              <a:t>Good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852159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Calibri"/>
              </a:defRPr>
            </a:pPr>
            <a:r>
              <a:t>Fast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20" y="5852159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Calibri"/>
              </a:defRPr>
            </a:pPr>
            <a:r>
              <a:t>First application in</a:t>
            </a:r>
            <a:br/>
            <a:r>
              <a:t>nuclear source monitoring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Table 1: Comprehensive comparison of radioactive source reconstruction methods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Sun Yat-sen University | Sino-French Institute of Nuclear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64008" cy="50292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ElasticNet Regression: Theory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Combining L1 and L2 regularization (Zou &amp; Hastie, 2005)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5 /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011680"/>
            <a:ext cx="9997135" cy="10972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05740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A1A2E"/>
                </a:solidFill>
                <a:latin typeface="Calibri"/>
              </a:defRPr>
            </a:pPr>
            <a:r>
              <a:t>Objective Function:</a:t>
            </a:r>
            <a:br/>
            <a:br/>
            <a:r>
              <a:t>min  ||y - Xw||²₂  +  α · [ ρ · ||w||₁  +  (1-ρ)/2 · ||w||²₂ ]</a:t>
            </a:r>
            <a:br/>
            <a:br/>
            <a:r>
              <a:t>α = overall regularization strength          ρ (l1_ratio) = L1/L2 mixing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L1 Penalty (ρ · ||w||₁):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• Promotes sparsity — counts non-zero elements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• Drives irrelevant coefficients to exact zero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• Enables hot-spot localization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L2 Penalty ((1-ρ)/2 · ||w||²₂):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• Groups correlated variables together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• Suppresses oscillation and overfitting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• Preserves continuous region morphology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2918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006B3F"/>
                </a:solidFill>
                <a:latin typeface="Calibri"/>
              </a:defRPr>
            </a:pPr>
            <a:r>
              <a:t>▸ Synergy Effect:</a:t>
            </a:r>
          </a:p>
          <a:p>
            <a:pPr>
              <a:spcAft>
                <a:spcPts val="200"/>
              </a:spcAft>
              <a:defRPr sz="1500">
                <a:solidFill>
                  <a:srgbClr val="006B3F"/>
                </a:solidFill>
                <a:latin typeface="Calibri"/>
              </a:defRPr>
            </a:pPr>
            <a:r>
              <a:t>    • Near sparse hotspots: L1 dominates → precise localization</a:t>
            </a:r>
          </a:p>
          <a:p>
            <a:pPr>
              <a:spcAft>
                <a:spcPts val="200"/>
              </a:spcAft>
              <a:defRPr sz="1500">
                <a:solidFill>
                  <a:srgbClr val="006B3F"/>
                </a:solidFill>
                <a:latin typeface="Calibri"/>
              </a:defRPr>
            </a:pPr>
            <a:r>
              <a:t>    • Inside continuous regions: L2 dominates → smooth reconstruction</a:t>
            </a:r>
          </a:p>
          <a:p>
            <a:pPr>
              <a:spcAft>
                <a:spcPts val="200"/>
              </a:spcAft>
              <a:defRPr sz="1500">
                <a:solidFill>
                  <a:srgbClr val="006B3F"/>
                </a:solidFill>
                <a:latin typeface="Calibri"/>
              </a:defRPr>
            </a:pPr>
            <a:r>
              <a:t>    • Transition zones: both cooperate → natural morphological transition</a:t>
            </a:r>
          </a:p>
          <a:p>
            <a:pPr>
              <a:spcAft>
                <a:spcPts val="200"/>
              </a:spcAft>
              <a:defRPr sz="1500">
                <a:solidFill>
                  <a:srgbClr val="006B3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006B3F"/>
                </a:solidFill>
                <a:latin typeface="Calibri"/>
              </a:defRPr>
            </a:pPr>
            <a:r>
              <a:t>▸ Key Properties:</a:t>
            </a:r>
          </a:p>
          <a:p>
            <a:pPr>
              <a:spcAft>
                <a:spcPts val="200"/>
              </a:spcAft>
              <a:defRPr sz="1500">
                <a:solidFill>
                  <a:srgbClr val="006B3F"/>
                </a:solidFill>
                <a:latin typeface="Calibri"/>
              </a:defRPr>
            </a:pPr>
            <a:r>
              <a:t>    • Strictly convex (when λ₂ &gt; 0) → unique global minimum</a:t>
            </a:r>
          </a:p>
          <a:p>
            <a:pPr>
              <a:spcAft>
                <a:spcPts val="200"/>
              </a:spcAft>
              <a:defRPr sz="1500">
                <a:solidFill>
                  <a:srgbClr val="006B3F"/>
                </a:solidFill>
                <a:latin typeface="Calibri"/>
              </a:defRPr>
            </a:pPr>
            <a:r>
              <a:t>    • No ADMM convergence issues (unlike Fused LASSO)</a:t>
            </a:r>
          </a:p>
          <a:p>
            <a:pPr>
              <a:spcAft>
                <a:spcPts val="200"/>
              </a:spcAft>
              <a:defRPr sz="1500">
                <a:solidFill>
                  <a:srgbClr val="006B3F"/>
                </a:solidFill>
                <a:latin typeface="Calibri"/>
              </a:defRPr>
            </a:pPr>
            <a:r>
              <a:t>    • Solved by Coordinate Descent algorithm</a:t>
            </a:r>
          </a:p>
          <a:p>
            <a:pPr>
              <a:spcAft>
                <a:spcPts val="200"/>
              </a:spcAft>
              <a:defRPr sz="1500">
                <a:solidFill>
                  <a:srgbClr val="006B3F"/>
                </a:solidFill>
                <a:latin typeface="Calibri"/>
              </a:defRPr>
            </a:pPr>
            <a:r>
              <a:t>    • ρ → 1: degrades to LASSO;  ρ → 0: degrades to Ridge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Sun Yat-sen University | Sino-French Institute of Nuclear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64008" cy="50292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Algorithm Implementation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Preprocessing → Optimization → Post-processing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6 /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3566160" cy="45720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Stage 1: Preprocessing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3566160" cy="3931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60604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Column normalization of A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  (scale each column to unit L₂ norm)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Non-negative SVD matrix construction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Condition number assessment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Adaptive α search range selection: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  cond=100: α ∈ [10⁻⁶, 10⁰]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  cond=500: α ∈ [10⁻⁵, 10¹]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  cond=1000: α ∈ [10⁻⁴, 10²]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011680"/>
            <a:ext cx="3566160" cy="4572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20116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Stage 2: Optimization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468880"/>
            <a:ext cx="3566160" cy="3931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60604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ElasticNet with positive=True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  (hard non-negativity constraint)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GridSearchCV parameter search: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  α: 50 values (log scale)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  l1_ratio: 80 values (linear)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  5-fold cross-validation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Scoring: neg_MSE with intercept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  penalty for |β₀/ȳ| &gt; 10%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Coordinate Descent solver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  (max_iter=20000, tol=10⁻⁸)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011680"/>
            <a:ext cx="356616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20116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Stage 3: Post-processing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468880"/>
            <a:ext cx="3566160" cy="3931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60604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Denormalize: w_est = w_norm ⊘ col_norms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Non-negative truncation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Intercept analysis: |β₀/ȳ| ratio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Evaluation metrics: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  - MSE, R², Pearson correlation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  - Sparsity match ratio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  - Per-cell relative error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Sun Yat-sen University | Sino-French Institute of Nuclear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64008" cy="50292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PHITS Monte Carlo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Contribution matrix construction with real physics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7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PHITS (JAEA): Monte Carlo particle transport code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Simulates photon transport in 3D geometry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Cs-137 point sources (0.662 MeV γ-ray)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Simulation: 10⁸ particles × 100 batches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Geometry Configuration: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• Spherical space (R=10m, centered on reactor)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• 10 scattered point sources → mapped to 12 grid cells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• 4 columns × 3 rows floor grid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• 8 spherical detectors (R=25mm) at z=20mm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• Medium: air (N, O, Ar at standard density)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Contribution Matrix A (8×12):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• Only 11/96 elements non-zero (11.5%)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• Matrix rank = 6/8 → significant information loss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• Multiple blind-spot cells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5029200" cy="41148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Source-Detector 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603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Sources: 10 Cs-137 point sources, 1 Ci each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Grid: 12 cells (4×3), cell size ~150mm × 200mm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Detectors: 8 spheres, R=25mm, distributed around perimeter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Active cells: 7 of 12 (Cell 0,1,5,6,7,8,9,10)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Zero-response cells: Cell 3,4,11 (detector blind spots)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Contribution matrix rank: 6/8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Fragment spread: log-normal distance distribution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Activity decay: exponential with distance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Sun Yat-sen University | Sino-French Institute of Nuclear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64008" cy="50292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PHITS Validation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8×12 underdetermined system with real physics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8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006B3F"/>
                </a:solidFill>
                <a:latin typeface="Calibri"/>
              </a:defRPr>
            </a:pPr>
            <a:r>
              <a:t>▸ Best parameters: α = 1.0×10⁻⁶, l1_ratio = 0.99</a:t>
            </a:r>
          </a:p>
          <a:p>
            <a:pPr>
              <a:spcAft>
                <a:spcPts val="400"/>
              </a:spcAft>
              <a:defRPr sz="1600">
                <a:solidFill>
                  <a:srgbClr val="006B3F"/>
                </a:solidFill>
                <a:latin typeface="Calibri"/>
              </a:defRPr>
            </a:pPr>
            <a:r>
              <a:t>▸ Overall R² = 0.463</a:t>
            </a:r>
          </a:p>
          <a:p>
            <a:pPr>
              <a:spcAft>
                <a:spcPts val="400"/>
              </a:spcAft>
              <a:defRPr sz="1600">
                <a:solidFill>
                  <a:srgbClr val="006B3F"/>
                </a:solidFill>
                <a:latin typeface="Calibri"/>
              </a:defRPr>
            </a:pPr>
            <a:r>
              <a:t>▸ All 7 non-zero cells successfully detected (no missed detections)</a:t>
            </a:r>
          </a:p>
          <a:p>
            <a:pPr>
              <a:spcAft>
                <a:spcPts val="400"/>
              </a:spcAft>
              <a:defRPr sz="1600">
                <a:solidFill>
                  <a:srgbClr val="006B3F"/>
                </a:solidFill>
                <a:latin typeface="Calibri"/>
              </a:defRPr>
            </a:pPr>
            <a:r>
              <a:t>▸ 5 of 7 cells: relative error &lt; 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200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True Activity</a:t>
            </a:r>
            <a:br/>
            <a:r>
              <a:t>(GBq)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200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ElasticNet</a:t>
            </a:r>
            <a:br/>
            <a:r>
              <a:t>Estimate (GBq)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Relative</a:t>
            </a:r>
            <a:br/>
            <a:r>
              <a:t>Error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03320"/>
            <a:ext cx="100584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21607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Cell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721607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1.265×10⁵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721607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1.265×10⁵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72160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0.0%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069080"/>
            <a:ext cx="10058400" cy="347472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0873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Cell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0873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5.266×10⁴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0873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3.93×10²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0873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74C3C"/>
                </a:solidFill>
                <a:latin typeface="Calibri"/>
              </a:defRPr>
            </a:pPr>
            <a:r>
              <a:t>99.3%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434840"/>
            <a:ext cx="10058400" cy="347472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453127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Cell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4453127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1.192×10⁵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453127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2.31×10³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45312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74C3C"/>
                </a:solidFill>
                <a:latin typeface="Calibri"/>
              </a:defRPr>
            </a:pPr>
            <a:r>
              <a:t>98.1%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800600"/>
            <a:ext cx="10058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8188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Cell 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48188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5.894×10⁴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8188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5.894×10⁴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8188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0.0%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166360"/>
            <a:ext cx="100584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1846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Cell 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51846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5.724×10⁴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51846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5.724×10⁴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51846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0.0%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532120"/>
            <a:ext cx="10058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550407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Cell 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40" y="5550407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4.870×10⁴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5550407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4.870×10⁴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555040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0.0%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5897880"/>
            <a:ext cx="1005840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59161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Cell 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77440" y="59161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1.352×10⁵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59161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1.373×10⁵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0" y="5916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1.2%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74C3C"/>
                </a:solidFill>
                <a:latin typeface="Calibri"/>
              </a:defRPr>
            </a:pPr>
            <a:r>
              <a:t>⚠ Cell 5 &amp; Cell 6 errors stem from detector geometry (weak response, not algorithm defect)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Sun Yat-sen University | Sino-French Institute of Nuclear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64008" cy="50292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Intercept Fitting &amp; Noise Tolerance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Trade-off between generalization and reconstruction quality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9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fit_intercept=True allows model to learn constant offset (baseline noise level)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Beneficial cases (|β₀/ȳ| &lt; 10%):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✓ Improved generalization to noisy measurement data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✓ Captures background radiation baseline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✓ Prediction MSE extremely low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Problematic cases (|β₀/ȳ| &gt;&gt; 10%):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✗ Intercept dominates → reconstruction degrades significantly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✗ Model 'cheats' by fitting noise offset rather than true source structure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✗ Prediction MSE still very low, but actual reconstruction MSE is poor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Custom scoring function to penalize large intercept ratios: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• |β₀/ȳ| &lt; 1%: penalty factor = 0.9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• 1% ≤ |β₀/ȳ| &lt; 10%: penalty factor = 1.0 (optimal range)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• 10% ≤ |β₀/ȳ| &lt; 15%: penalty factor = 0.6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• |β₀/ȳ| ≥ 15%: penalty factor = 0.3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Key finding: ElasticNet has an upper limit of noise tolerance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Beyond this limit, neither fit_intercept=True nor False gives good results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Sun Yat-sen University | Sino-French Institute of Nuclear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64008" cy="50292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Optimization Strategies for Different Condition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Chapter 5: Systematic exploration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10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▸ Experimental design: condition numbers 50–500, 10 random trials each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▸ Discovery: difficulty 'inflection points' at cond ≈ 150 and cond ≈ 300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▸ Not simply 'more ill-conditioned = harder' — special spectral structure at these points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83280"/>
            <a:ext cx="2697480" cy="41148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Adaptive CV Folds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94760"/>
            <a:ext cx="2697480" cy="2468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86200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• Dynamic CV fold selection</a:t>
            </a:r>
            <a:br/>
            <a:r>
              <a:t>  based on condition number</a:t>
            </a:r>
            <a:br/>
            <a:r>
              <a:t>• Effective for low cond</a:t>
            </a:r>
            <a:br/>
            <a:r>
              <a:t>• Limited for high cond</a:t>
            </a:r>
            <a:br/>
            <a:r>
              <a:t>(≥300)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3383280"/>
            <a:ext cx="2697480" cy="41148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338328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Segmented α 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3794760"/>
            <a:ext cx="2697480" cy="2468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3886200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• Divide α range into segments</a:t>
            </a:r>
            <a:br/>
            <a:r>
              <a:t>• Dense search in difficult zones</a:t>
            </a:r>
            <a:br/>
            <a:r>
              <a:t>• Medium cond improvement</a:t>
            </a:r>
            <a:br/>
            <a:r>
              <a:t>• Still unstable at cond 350+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383280"/>
            <a:ext cx="2697480" cy="411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38328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Fusion Strategy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794760"/>
            <a:ext cx="2697480" cy="2468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886200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• Partition by condition number</a:t>
            </a:r>
            <a:br/>
            <a:r>
              <a:t>• Apply best strategy per zone</a:t>
            </a:r>
            <a:br/>
            <a:r>
              <a:t>• Weighted result fusion</a:t>
            </a:r>
            <a:br/>
            <a:r>
              <a:t>• Cannot break upper bound</a:t>
            </a:r>
            <a:br/>
            <a:r>
              <a:t>at high cond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3383280"/>
            <a:ext cx="2697480" cy="411480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338328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Bayesian Optimization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3794760"/>
            <a:ext cx="2697480" cy="2468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3886200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• GP surrogate model</a:t>
            </a:r>
            <a:br/>
            <a:r>
              <a:t>• gp_hedge acquisition function</a:t>
            </a:r>
            <a:br/>
            <a:r>
              <a:t>• 40 evaluations (vs 150-450)</a:t>
            </a:r>
            <a:br/>
            <a:r>
              <a:t>• 70-90% computation savings</a:t>
            </a:r>
            <a:br/>
            <a:r>
              <a:t>• Complementary to grid 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Sun Yat-sen University | Sino-French Institute of Nuclear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64008" cy="50292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Bayesian Optimization: Method &amp;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Gaussian Process-based hyperparameter search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11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GP surrogate model for f(α, ρ)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gp_hedge acquisition function: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Dynamically switches between: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- Expected Improvement (EI)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- Lower Confidence Bound (LCB)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- Probability of Improvement (PI)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40 evaluations vs. 150-450 for grid search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Converges within 10-15 iterations to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within 5-10% of final optimum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Results: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• Low cond (≤150): matches grid search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• High cond (≥300): slightly worse than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  exhaustive grid search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• Core advantage: 5-10× faster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006B3F"/>
                </a:solidFill>
                <a:latin typeface="Calibri"/>
              </a:defRPr>
            </a:pPr>
            <a:r>
              <a:t>▸ PHITS Validation with Bayesian:</a:t>
            </a:r>
          </a:p>
          <a:p>
            <a:pPr>
              <a:spcAft>
                <a:spcPts val="200"/>
              </a:spcAft>
              <a:defRPr sz="1500">
                <a:solidFill>
                  <a:srgbClr val="006B3F"/>
                </a:solidFill>
                <a:latin typeface="Calibri"/>
              </a:defRPr>
            </a:pPr>
            <a:r>
              <a:t>    • Same 8×12 contribution matrix</a:t>
            </a:r>
          </a:p>
          <a:p>
            <a:pPr>
              <a:spcAft>
                <a:spcPts val="200"/>
              </a:spcAft>
              <a:defRPr sz="1500">
                <a:solidFill>
                  <a:srgbClr val="006B3F"/>
                </a:solidFill>
                <a:latin typeface="Calibri"/>
              </a:defRPr>
            </a:pPr>
            <a:r>
              <a:t>    • Strong-signal cells (1,7,8,9): accurate</a:t>
            </a:r>
          </a:p>
          <a:p>
            <a:pPr>
              <a:spcAft>
                <a:spcPts val="200"/>
              </a:spcAft>
              <a:defRPr sz="1500">
                <a:solidFill>
                  <a:srgbClr val="006B3F"/>
                </a:solidFill>
                <a:latin typeface="Calibri"/>
              </a:defRPr>
            </a:pPr>
            <a:r>
              <a:t>    • Weak-signal cells (5,6): 'selective zeroing'</a:t>
            </a:r>
          </a:p>
          <a:p>
            <a:pPr>
              <a:spcAft>
                <a:spcPts val="200"/>
              </a:spcAft>
              <a:defRPr sz="1500">
                <a:solidFill>
                  <a:srgbClr val="006B3F"/>
                </a:solidFill>
                <a:latin typeface="Calibri"/>
              </a:defRPr>
            </a:pPr>
            <a:r>
              <a:t>    • Consistent with Ch.5 findings</a:t>
            </a:r>
          </a:p>
          <a:p>
            <a:pPr>
              <a:spcAft>
                <a:spcPts val="200"/>
              </a:spcAft>
              <a:defRPr sz="1500">
                <a:solidFill>
                  <a:srgbClr val="006B3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006B3F"/>
                </a:solidFill>
                <a:latin typeface="Calibri"/>
              </a:defRPr>
            </a:pPr>
            <a:r>
              <a:t>▸ Key Conclusion:</a:t>
            </a:r>
          </a:p>
          <a:p>
            <a:pPr>
              <a:spcAft>
                <a:spcPts val="200"/>
              </a:spcAft>
              <a:defRPr sz="1500">
                <a:solidFill>
                  <a:srgbClr val="006B3F"/>
                </a:solidFill>
                <a:latin typeface="Calibri"/>
              </a:defRPr>
            </a:pPr>
            <a:r>
              <a:t>    Bayesian optimization and grid search</a:t>
            </a:r>
          </a:p>
          <a:p>
            <a:pPr>
              <a:spcAft>
                <a:spcPts val="200"/>
              </a:spcAft>
              <a:defRPr sz="1500">
                <a:solidFill>
                  <a:srgbClr val="006B3F"/>
                </a:solidFill>
                <a:latin typeface="Calibri"/>
              </a:defRPr>
            </a:pPr>
            <a:r>
              <a:t>    are complementary, not substitutive:</a:t>
            </a:r>
          </a:p>
          <a:p>
            <a:pPr>
              <a:spcAft>
                <a:spcPts val="200"/>
              </a:spcAft>
              <a:defRPr sz="1500">
                <a:solidFill>
                  <a:srgbClr val="006B3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006B3F"/>
                </a:solidFill>
                <a:latin typeface="Calibri"/>
              </a:defRPr>
            </a:pPr>
            <a:r>
              <a:t>    • Grid search: higher accuracy ceiling</a:t>
            </a:r>
          </a:p>
          <a:p>
            <a:pPr>
              <a:spcAft>
                <a:spcPts val="200"/>
              </a:spcAft>
              <a:defRPr sz="1500">
                <a:solidFill>
                  <a:srgbClr val="006B3F"/>
                </a:solidFill>
                <a:latin typeface="Calibri"/>
              </a:defRPr>
            </a:pPr>
            <a:r>
              <a:t>      (exhaustive, finds cross-order optimum)</a:t>
            </a:r>
          </a:p>
          <a:p>
            <a:pPr>
              <a:spcAft>
                <a:spcPts val="200"/>
              </a:spcAft>
              <a:defRPr sz="1500">
                <a:solidFill>
                  <a:srgbClr val="006B3F"/>
                </a:solidFill>
                <a:latin typeface="Calibri"/>
              </a:defRPr>
            </a:pPr>
            <a:r>
              <a:t>    • Bayesian: faster convergence</a:t>
            </a:r>
          </a:p>
          <a:p>
            <a:pPr>
              <a:spcAft>
                <a:spcPts val="200"/>
              </a:spcAft>
              <a:defRPr sz="1500">
                <a:solidFill>
                  <a:srgbClr val="006B3F"/>
                </a:solidFill>
                <a:latin typeface="Calibri"/>
              </a:defRPr>
            </a:pPr>
            <a:r>
              <a:t>      (ideal for rapid iteration / auto-tuning)</a:t>
            </a:r>
          </a:p>
          <a:p>
            <a:pPr>
              <a:spcAft>
                <a:spcPts val="200"/>
              </a:spcAft>
              <a:defRPr sz="1500">
                <a:solidFill>
                  <a:srgbClr val="006B3F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006B3F"/>
                </a:solidFill>
                <a:latin typeface="Calibri"/>
              </a:defRPr>
            </a:pPr>
            <a:r>
              <a:t>▸ Best l1_ratio consistently ≈ 0.99</a:t>
            </a:r>
          </a:p>
          <a:p>
            <a:pPr>
              <a:spcAft>
                <a:spcPts val="200"/>
              </a:spcAft>
              <a:defRPr sz="1500">
                <a:solidFill>
                  <a:srgbClr val="006B3F"/>
                </a:solidFill>
                <a:latin typeface="Calibri"/>
              </a:defRPr>
            </a:pPr>
            <a:r>
              <a:t>   → confirms strong sparsity prior in</a:t>
            </a:r>
          </a:p>
          <a:p>
            <a:pPr>
              <a:spcAft>
                <a:spcPts val="200"/>
              </a:spcAft>
              <a:defRPr sz="1500">
                <a:solidFill>
                  <a:srgbClr val="006B3F"/>
                </a:solidFill>
                <a:latin typeface="Calibri"/>
              </a:defRPr>
            </a:pPr>
            <a:r>
              <a:t>   this inverse problem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Sun Yat-sen University | Sino-French Institute of Nuclear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64008" cy="50292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Condition Number Impact &amp; Difficulty Inflection 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12 /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▸ Column normalization is the numerical foundation for all subsequent optimizations</a:t>
            </a:r>
          </a:p>
          <a:p>
            <a:pPr>
              <a:spcAft>
                <a:spcPts val="3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 • Balances contribution weights across columns in cost function</a:t>
            </a:r>
          </a:p>
          <a:p>
            <a:pPr>
              <a:spcAft>
                <a:spcPts val="3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 • Does NOT directly reduce condition number, but stabilizes parameter search path</a:t>
            </a:r>
          </a:p>
          <a:p>
            <a:pPr>
              <a:spcAft>
                <a:spcPts val="300"/>
              </a:spcAft>
              <a:defRPr sz="16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▸ Adaptive α search range (key optimization):</a:t>
            </a:r>
          </a:p>
          <a:p>
            <a:pPr>
              <a:spcAft>
                <a:spcPts val="3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 • Cond = 100: α ∈ [10⁻⁷, 10⁰] → MSE &lt; 10⁻³ achieved</a:t>
            </a:r>
          </a:p>
          <a:p>
            <a:pPr>
              <a:spcAft>
                <a:spcPts val="3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 • Optimal l1_ratio ≈ 0.99 across all conditions → strong sparsity is the true prior</a:t>
            </a:r>
          </a:p>
          <a:p>
            <a:pPr>
              <a:spcAft>
                <a:spcPts val="300"/>
              </a:spcAft>
              <a:defRPr sz="16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▸ Difficulty inflection points at cond ≈ 150 and 300:</a:t>
            </a:r>
          </a:p>
          <a:p>
            <a:pPr>
              <a:spcAft>
                <a:spcPts val="3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 • Special spectral noise amplification structure</a:t>
            </a:r>
          </a:p>
          <a:p>
            <a:pPr>
              <a:spcAft>
                <a:spcPts val="3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 • Not simply 'higher cond = harder' — critical matrix structure matters</a:t>
            </a:r>
          </a:p>
          <a:p>
            <a:pPr>
              <a:spcAft>
                <a:spcPts val="3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 • All strategies show marginal diminishing returns at these points</a:t>
            </a:r>
          </a:p>
          <a:p>
            <a:pPr>
              <a:spcAft>
                <a:spcPts val="300"/>
              </a:spcAft>
              <a:defRPr sz="16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▸ Robustness challenge remains:</a:t>
            </a:r>
          </a:p>
          <a:p>
            <a:pPr>
              <a:spcAft>
                <a:spcPts val="3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 • Under same conditions, different random seeds yield R² variance &gt; 0.5</a:t>
            </a:r>
          </a:p>
          <a:p>
            <a:pPr>
              <a:spcAft>
                <a:spcPts val="3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 • Algorithm excels for certain source distributions but fails for others</a:t>
            </a:r>
          </a:p>
          <a:p>
            <a:pPr>
              <a:spcAft>
                <a:spcPts val="3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 • This is the core obstacle for practical deployment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Sun Yat-sen University | Sino-French Institute of Nuclear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64008" cy="50292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ElasticNet Applications in Related Fields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Cross-domain evidence supporting L1+L2 synergy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13 /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3566160" cy="64008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Nuclear Medicine</a:t>
            </a:r>
            <a:br/>
            <a:r>
              <a:t>(Kasai &amp; Otsuka, 2025)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51760"/>
            <a:ext cx="356616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Dynamic ElasticNet in MLEM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  framework for SPECT imaging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Outperforms pure L1, L2, and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  fixed-weight ElasticNet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Better noise suppression +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  fine structure preservation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011680"/>
            <a:ext cx="3566160" cy="64008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01168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XLCT Imaging</a:t>
            </a:r>
            <a:br/>
            <a:r>
              <a:t>(Zhao et al., 2021)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2651760"/>
            <a:ext cx="356616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74320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X-ray luminescence computed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  tomography reconstruction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L1+L2 resists over-sparsity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  and over-smoothing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Superior localization, dual-source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  resolution, and robustness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011680"/>
            <a:ext cx="3566160" cy="64008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01168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Fluorescence Molecular</a:t>
            </a:r>
            <a:br/>
            <a:r>
              <a:t>Tomography (Zhang et al.)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651760"/>
            <a:ext cx="356616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74320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APSEN method for FMT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30%+ reduction in localization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  error vs comparison methods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Validated in phantom and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  in-vivo experiments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6B3F"/>
                </a:solidFill>
                <a:latin typeface="Calibri"/>
              </a:defRPr>
            </a:pPr>
            <a:r>
              <a:t>→ These cross-domain studies confirm: ElasticNet's L1+L2 design has inherent superiority</a:t>
            </a:r>
            <a:br/>
            <a:r>
              <a:t>   in handling the 'sparse vs. continuous' contradiction — motivating its application to nuclear source monitoring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Sun Yat-sen University | Sino-French Institute of Nuclear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64008" cy="50292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Conclusions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14 / 20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011680"/>
            <a:ext cx="365760" cy="365760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9659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Calibri"/>
              </a:defRPr>
            </a:pPr>
            <a:r>
              <a:t>ElasticNet fills the application gap in nuclear source monitoring, effectively handling the 'sparse + continuous' composite source reconstruction scenario.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926080"/>
            <a:ext cx="365760" cy="365760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8803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Calibri"/>
              </a:defRPr>
            </a:pPr>
            <a:r>
              <a:t>Optimization strategies (column normalization, adaptive α, non-negative constraint, intercept penalty) significantly improve accuracy: cond 100-300 all achieve good fit.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840480"/>
            <a:ext cx="365760" cy="365760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794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Calibri"/>
              </a:defRPr>
            </a:pPr>
            <a:r>
              <a:t>PHITS validation: all 7 non-zero cells detected, 5 cells with &lt; 2% error. Cell 5/6 errors originate from detector layout, not algorithm deficiency.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754880"/>
            <a:ext cx="365760" cy="365760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7091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Calibri"/>
              </a:defRPr>
            </a:pPr>
            <a:r>
              <a:t>Difficulty inflection points at cond ≈ 150, 300 identified. All strategies show diminishing returns at high condition numbers. Fusion cannot break the performance ceiling.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669280"/>
            <a:ext cx="365760" cy="365760"/>
          </a:xfrm>
          <a:prstGeom prst="ellipse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2E"/>
                </a:solidFill>
                <a:latin typeface="Calibri"/>
              </a:defRPr>
            </a:pPr>
            <a:r>
              <a:t>Bayesian optimization is complementary to grid search: 70-90% computation savings, suitable for rapid iteration; grid search provides higher accuracy ceiling.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Sun Yat-sen University | Sino-French Institute of Nuclear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64008" cy="50292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Future Work &amp; Outlook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15 /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▸ Mobile Detection Platforms (UGV / UAV):</a:t>
            </a: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 • Carry detectors for large-scale autonomous patrol in plant buildings</a:t>
            </a: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 • Acquire radiation signals at multiple spatial positions → richer contribution matrix</a:t>
            </a: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 • Greatly reduce matrix condition number → improve ElasticNet stability</a:t>
            </a: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▸ Algorithm Improvements:</a:t>
            </a: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 • Adaptive ElasticNet for automatic variable selection</a:t>
            </a: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 • Bayesian ElasticNet with uncertainty quantification</a:t>
            </a: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 • Dynamic regularization combined with deep learning feature extraction</a:t>
            </a: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 • Model cascade: DL feature extraction → ElasticNet reconstruction</a:t>
            </a: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▸ Extended Applications:</a:t>
            </a: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 • Multi-energy source discrimination (different nuclides)</a:t>
            </a: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 • 3D volumetric source reconstruction</a:t>
            </a: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 • Mobile detector path planning optimization</a:t>
            </a: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 • Real-time online source reconstruction system</a:t>
            </a: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▸ From simulation to field deployment — pushing toward engineering applications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Sun Yat-sen University | Sino-French Institute of Nuclear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64008" cy="50292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Selected 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16 /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[1] Tibshirani R. Regression shrinkage and selection via the lasso. JRSS-B, 1996.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[2] Hoerl &amp; Kennard. Ridge regression: Biased estimation for nonorthogonal problems. Technometrics, 1970.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[3] Sugaya et al. Inverse estimation methods of unknown radioactive source for fuel debris search. ANE, 2019.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[4] Shi W et al. LASSO reconstruction with spectral information. ANE, 2023.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[5] Shi W et al. Inverse estimation using LASSO: Theory and demonstration. PNE, 2023.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[6] Machida et al. Observation point selection using Bayesian LASSO. EPJ Web Conf., 2024.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[7] Yamada et al. Effectiveness of Fused LASSO for radioactive distribution prediction. WM2024.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[8] Zou &amp; Hastie. Regularization and variable selection via the elastic net. JRSS-B, 2005.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[9] Kasai &amp; Otsuka. Iterative reconstruction with dynamic elastic net. J. Imaging, 2025.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[10] Zhao et al. Robust elastic net for XLCT. Phys. Med. Biol., 2021.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[11] Friedman et al. Regularization paths via coordinate descent. JSS, 2010.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[13] Sato et al. PHITS version 3.02. JNST, 2018.</a:t>
            </a:r>
          </a:p>
          <a:p>
            <a:pPr>
              <a:spcAft>
                <a:spcPts val="3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[14] Shahriari et al. Taking the human out of the loop: Bayesian optimization review. Proc. IEEE, 2016.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Sun Yat-sen University | Sino-French Institute of Nuclear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64008" cy="50292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Source-Detector Geometry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Fragment simulation → floor grid mapping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17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Fragment Distribution Simulation: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• Distance: log-normal distribution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• Angle: uniform random [0, 2π]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• Activity: exponential decay with distance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• A = A₀ · exp(-β · {distance factors})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Floor Grid Mapping (4×3 = 12 cells):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• X: [-2400, -1800] mm → 4 columns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• Y: [100, 700] mm → 3 rows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• Multiple sources in same cell: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   activities are summed (linear叠加)</a:t>
            </a: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▸ 7 active cells, 5 empty cells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920240"/>
            <a:ext cx="5303520" cy="36576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Source Parameters (10 point sources)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774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S0(-1824,337)→Cell(1,3) w=0.863</a:t>
            </a:r>
          </a:p>
          <a:p>
            <a:pPr>
              <a:spcAft>
                <a:spcPts val="2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S1(-1993,510)→Cell(2,2) w=1.000</a:t>
            </a:r>
          </a:p>
          <a:p>
            <a:pPr>
              <a:spcAft>
                <a:spcPts val="2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S2(-2051,475)→Cell(2,2) w=0.920</a:t>
            </a:r>
          </a:p>
          <a:p>
            <a:pPr>
              <a:spcAft>
                <a:spcPts val="2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S3(-2072,390)→Cell(2,1) w=0.825</a:t>
            </a:r>
          </a:p>
          <a:p>
            <a:pPr>
              <a:spcAft>
                <a:spcPts val="2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S4(-2048,515)→Cell(2,2) w=0.980</a:t>
            </a:r>
          </a:p>
          <a:p>
            <a:pPr>
              <a:spcAft>
                <a:spcPts val="2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S5(-2170,123)→Cell(1,0) w=0.884</a:t>
            </a:r>
          </a:p>
          <a:p>
            <a:pPr>
              <a:spcAft>
                <a:spcPts val="2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S6(-2172,330)→Cell(1,1) w=0.771</a:t>
            </a:r>
          </a:p>
          <a:p>
            <a:pPr>
              <a:spcAft>
                <a:spcPts val="2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S7(-2243,175)→Cell(1,0) w=0.968</a:t>
            </a:r>
          </a:p>
          <a:p>
            <a:pPr>
              <a:spcAft>
                <a:spcPts val="2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S8(-2198,624)→Cell(1,2) w=0.713</a:t>
            </a:r>
          </a:p>
          <a:p>
            <a:pPr>
              <a:spcAft>
                <a:spcPts val="2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S9(-2255,632)→Cell(0,2) w=0.838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Sun Yat-sen University | Sino-French Institute of Nuclear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64008" cy="50292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Error Source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Why some cells fail — it's the physics, not the algorithm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18 /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▸ Cell 6 (true: 1.19×10⁵ GBq, estimated: 2.31×10³ GBq, error: 98.1%):</a:t>
            </a:r>
          </a:p>
          <a:p>
            <a:pPr>
              <a:spcAft>
                <a:spcPts val="3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 • Only Detector 1 has response — and extremely weak (10⁻⁹ MeV/cm³/source level)</a:t>
            </a:r>
          </a:p>
          <a:p>
            <a:pPr>
              <a:spcAft>
                <a:spcPts val="3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 • Signal completely overwhelmed by stronger responses from other cells</a:t>
            </a:r>
          </a:p>
          <a:p>
            <a:pPr>
              <a:spcAft>
                <a:spcPts val="300"/>
              </a:spcAft>
              <a:defRPr sz="16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▸ Cell 5 (true: 5.27×10⁴ GBq, estimated: 3.93×10² GBq, error: 99.3%):</a:t>
            </a:r>
          </a:p>
          <a:p>
            <a:pPr>
              <a:spcAft>
                <a:spcPts val="3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 • Only Detector 5 has weak response (10⁻¹⁰ level)</a:t>
            </a:r>
          </a:p>
          <a:p>
            <a:pPr>
              <a:spcAft>
                <a:spcPts val="3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 • Same issue: single-detector, extremely weak signal</a:t>
            </a:r>
          </a:p>
          <a:p>
            <a:pPr>
              <a:spcAft>
                <a:spcPts val="300"/>
              </a:spcAft>
              <a:defRPr sz="16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▸ Matrix rank analysis: A has numerical rank = 6/8</a:t>
            </a:r>
          </a:p>
          <a:p>
            <a:pPr>
              <a:spcAft>
                <a:spcPts val="3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 • Only 6 of 12 cells are algebraically distinguishable</a:t>
            </a:r>
          </a:p>
          <a:p>
            <a:pPr>
              <a:spcAft>
                <a:spcPts val="3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 • Remaining cells' information is completely lost in detector response</a:t>
            </a:r>
          </a:p>
          <a:p>
            <a:pPr>
              <a:spcAft>
                <a:spcPts val="3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 • This is physical indistinguishability from detector geometry, NOT algorithm failure</a:t>
            </a:r>
          </a:p>
          <a:p>
            <a:pPr>
              <a:spcAft>
                <a:spcPts val="300"/>
              </a:spcAft>
              <a:defRPr sz="16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▸ Implication: improved detector layout (more positions, better coverage) would</a:t>
            </a:r>
          </a:p>
          <a:p>
            <a:pPr>
              <a:spcAft>
                <a:spcPts val="3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   directly resolve these errors — ElasticNet itself is not the bottleneck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Sun Yat-sen University | Sino-French Institute of Nuclear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64008" cy="50292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Research Objectives — Achievement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19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105156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103120"/>
            <a:ext cx="64008" cy="128016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Calibri"/>
              </a:defRPr>
            </a:pPr>
            <a:r>
              <a:t>Objective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68879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Establish mathematical model for composite source reconstruction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34639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6B3F"/>
                </a:solidFill>
                <a:latin typeface="Calibri"/>
              </a:defRPr>
            </a:pPr>
            <a:r>
              <a:t>✅ Achieved: L1 for sparse + L2 for continuous, synergy mechanism clarified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66160"/>
            <a:ext cx="105156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566160"/>
            <a:ext cx="64008" cy="128016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6118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Calibri"/>
              </a:defRPr>
            </a:pPr>
            <a:r>
              <a:t>Objective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9319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Systematic algorithm validation under realistic constraints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2976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6B3F"/>
                </a:solidFill>
                <a:latin typeface="Calibri"/>
              </a:defRPr>
            </a:pPr>
            <a:r>
              <a:t>✅ Achieved: PHITS simulation, condition number 50-500, 10 trials × 10 conditions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029200"/>
            <a:ext cx="105156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029200"/>
            <a:ext cx="64008" cy="128016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Calibri"/>
              </a:defRPr>
            </a:pPr>
            <a:r>
              <a:t>Objective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9496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Feasibility assessment for field 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7607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6B3F"/>
                </a:solidFill>
                <a:latin typeface="Calibri"/>
              </a:defRPr>
            </a:pPr>
            <a:r>
              <a:t>✅ Achieved: identified noise tolerance ceiling, detector layout as key factor, UGV/UAV pathway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0972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AAAAAA"/>
                </a:solidFill>
                <a:latin typeface="Calibri"/>
              </a:defRPr>
            </a:pPr>
            <a:r>
              <a:t>谢谢各位老师！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743200"/>
            <a:ext cx="5790895" cy="27432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0175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49A2A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  <a:latin typeface="Calibri"/>
              </a:defRPr>
            </a:pPr>
            <a:r>
              <a:t>Wang Kaiqi (王开齐)  |  22355080</a:t>
            </a:r>
            <a:br/>
            <a:r>
              <a:t>Sino-French Institute of Nuclear Engineering and Technology</a:t>
            </a:r>
            <a:br/>
            <a:r>
              <a:t>Sun Yat-sen University (中山大学)</a:t>
            </a:r>
            <a:br/>
            <a:br/>
            <a:r>
              <a:t>Supervisors:</a:t>
            </a:r>
            <a:br/>
            <a:r>
              <a:t>Prof. Shi Wei (石巍) — City University of Hong Kong</a:t>
            </a:r>
            <a:br/>
            <a:r>
              <a:t>Prof. Wang Kai (王凯) — Sun Yat-sen University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